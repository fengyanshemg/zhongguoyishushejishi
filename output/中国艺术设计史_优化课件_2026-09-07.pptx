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af53c7f6448d9" /><Relationship Type="http://schemas.openxmlformats.org/officeDocument/2006/relationships/extended-properties" Target="/docProps/app.xml" Id="Rc94d04c21fd94abc" /><Relationship Type="http://schemas.openxmlformats.org/officeDocument/2006/relationships/officeDocument" Target="/ppt/presentation.xml" Id="Rf8c973c1b624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dfaf854564b8f"/>
  </p:sldMasterIdLst>
  <p:notesMasterIdLst>
    <p:notesMasterId xmlns:r="http://schemas.openxmlformats.org/officeDocument/2006/relationships" r:id="R546556002d444ba1"/>
  </p:notesMasterIdLst>
  <p:sldIdLst>
    <p:sldId xmlns:r="http://schemas.openxmlformats.org/officeDocument/2006/relationships" id="256" r:id="R3271d28a420346e3"/>
    <p:sldId xmlns:r="http://schemas.openxmlformats.org/officeDocument/2006/relationships" id="257" r:id="R95da5ca73d55493b"/>
    <p:sldId xmlns:r="http://schemas.openxmlformats.org/officeDocument/2006/relationships" id="258" r:id="R73eae06f41204b7c"/>
    <p:sldId xmlns:r="http://schemas.openxmlformats.org/officeDocument/2006/relationships" id="259" r:id="Rb067587ac713483e"/>
    <p:sldId xmlns:r="http://schemas.openxmlformats.org/officeDocument/2006/relationships" id="260" r:id="R6544b29b0b404e33"/>
    <p:sldId xmlns:r="http://schemas.openxmlformats.org/officeDocument/2006/relationships" id="261" r:id="Rb463c61a0b344dbc"/>
    <p:sldId xmlns:r="http://schemas.openxmlformats.org/officeDocument/2006/relationships" id="262" r:id="R3053ad25c6ca49a9"/>
    <p:sldId xmlns:r="http://schemas.openxmlformats.org/officeDocument/2006/relationships" id="263" r:id="R32ba0b454b9b4efa"/>
    <p:sldId xmlns:r="http://schemas.openxmlformats.org/officeDocument/2006/relationships" id="264" r:id="R8782177abb094071"/>
    <p:sldId xmlns:r="http://schemas.openxmlformats.org/officeDocument/2006/relationships" id="265" r:id="R77729b53c3494194"/>
    <p:sldId xmlns:r="http://schemas.openxmlformats.org/officeDocument/2006/relationships" id="266" r:id="Rb76774d837d54166"/>
    <p:sldId xmlns:r="http://schemas.openxmlformats.org/officeDocument/2006/relationships" id="267" r:id="R795907025f164c62"/>
    <p:sldId xmlns:r="http://schemas.openxmlformats.org/officeDocument/2006/relationships" id="268" r:id="R0c380e6e77e7477f"/>
    <p:sldId xmlns:r="http://schemas.openxmlformats.org/officeDocument/2006/relationships" id="269" r:id="R008512d6079d4a58"/>
    <p:sldId xmlns:r="http://schemas.openxmlformats.org/officeDocument/2006/relationships" id="270" r:id="R6789352a72a84190"/>
    <p:sldId xmlns:r="http://schemas.openxmlformats.org/officeDocument/2006/relationships" id="271" r:id="R5ade187818ca4d59"/>
    <p:sldId xmlns:r="http://schemas.openxmlformats.org/officeDocument/2006/relationships" id="272" r:id="R3b0799a7c9c2447b"/>
    <p:sldId xmlns:r="http://schemas.openxmlformats.org/officeDocument/2006/relationships" id="273" r:id="R37ce6922d3d84094"/>
    <p:sldId xmlns:r="http://schemas.openxmlformats.org/officeDocument/2006/relationships" id="274" r:id="R557cb0671d644b1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7c1290b9dc4d38" /><Relationship Type="http://schemas.openxmlformats.org/officeDocument/2006/relationships/slideMaster" Target="/ppt/slideMasters/slideMaster1.xml" Id="R7afdfaf854564b8f" /><Relationship Type="http://schemas.openxmlformats.org/officeDocument/2006/relationships/notesMaster" Target="/ppt/notesMasters/notesMaster1.xml" Id="R546556002d444ba1" /><Relationship Type="http://schemas.openxmlformats.org/officeDocument/2006/relationships/presProps" Target="/ppt/presProps.xml" Id="Rb05716ff6a1841a4" /><Relationship Type="http://schemas.openxmlformats.org/officeDocument/2006/relationships/viewProps" Target="/ppt/viewProps.xml" Id="R36a135a8b8504aaa" /><Relationship Type="http://schemas.openxmlformats.org/officeDocument/2006/relationships/tableStyles" Target="/ppt/tableStyles.xml" Id="R2025378478c8428e" /><Relationship Type="http://schemas.openxmlformats.org/officeDocument/2006/relationships/slide" Target="/ppt/slides/slide1.xml" Id="R3271d28a420346e3" /><Relationship Type="http://schemas.openxmlformats.org/officeDocument/2006/relationships/slide" Target="/ppt/slides/slide2.xml" Id="R95da5ca73d55493b" /><Relationship Type="http://schemas.openxmlformats.org/officeDocument/2006/relationships/slide" Target="/ppt/slides/slide3.xml" Id="R73eae06f41204b7c" /><Relationship Type="http://schemas.openxmlformats.org/officeDocument/2006/relationships/slide" Target="/ppt/slides/slide4.xml" Id="Rb067587ac713483e" /><Relationship Type="http://schemas.openxmlformats.org/officeDocument/2006/relationships/slide" Target="/ppt/slides/slide5.xml" Id="R6544b29b0b404e33" /><Relationship Type="http://schemas.openxmlformats.org/officeDocument/2006/relationships/slide" Target="/ppt/slides/slide6.xml" Id="Rb463c61a0b344dbc" /><Relationship Type="http://schemas.openxmlformats.org/officeDocument/2006/relationships/slide" Target="/ppt/slides/slide7.xml" Id="R3053ad25c6ca49a9" /><Relationship Type="http://schemas.openxmlformats.org/officeDocument/2006/relationships/slide" Target="/ppt/slides/slide8.xml" Id="R32ba0b454b9b4efa" /><Relationship Type="http://schemas.openxmlformats.org/officeDocument/2006/relationships/slide" Target="/ppt/slides/slide9.xml" Id="R8782177abb094071" /><Relationship Type="http://schemas.openxmlformats.org/officeDocument/2006/relationships/slide" Target="/ppt/slides/slide10.xml" Id="R77729b53c3494194" /><Relationship Type="http://schemas.openxmlformats.org/officeDocument/2006/relationships/slide" Target="/ppt/slides/slide11.xml" Id="Rb76774d837d54166" /><Relationship Type="http://schemas.openxmlformats.org/officeDocument/2006/relationships/slide" Target="/ppt/slides/slide12.xml" Id="R795907025f164c62" /><Relationship Type="http://schemas.openxmlformats.org/officeDocument/2006/relationships/slide" Target="/ppt/slides/slide13.xml" Id="R0c380e6e77e7477f" /><Relationship Type="http://schemas.openxmlformats.org/officeDocument/2006/relationships/slide" Target="/ppt/slides/slide14.xml" Id="R008512d6079d4a58" /><Relationship Type="http://schemas.openxmlformats.org/officeDocument/2006/relationships/slide" Target="/ppt/slides/slide15.xml" Id="R6789352a72a84190" /><Relationship Type="http://schemas.openxmlformats.org/officeDocument/2006/relationships/slide" Target="/ppt/slides/slide16.xml" Id="R5ade187818ca4d59" /><Relationship Type="http://schemas.openxmlformats.org/officeDocument/2006/relationships/slide" Target="/ppt/slides/slide17.xml" Id="R3b0799a7c9c2447b" /><Relationship Type="http://schemas.openxmlformats.org/officeDocument/2006/relationships/slide" Target="/ppt/slides/slide18.xml" Id="R37ce6922d3d84094" /><Relationship Type="http://schemas.openxmlformats.org/officeDocument/2006/relationships/slide" Target="/ppt/slides/slide19.xml" Id="R557cb0671d644b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ad16addc7a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842629731434c" /><Relationship Type="http://schemas.openxmlformats.org/officeDocument/2006/relationships/notesMaster" Target="/ppt/notesMasters/notesMaster1.xml" Id="R40ae6977bc89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bb1b6e64a4492d" /><Relationship Type="http://schemas.openxmlformats.org/officeDocument/2006/relationships/notesMaster" Target="/ppt/notesMasters/notesMaster1.xml" Id="R0c31bd816ce44c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547c15d3a4b11" /><Relationship Type="http://schemas.openxmlformats.org/officeDocument/2006/relationships/notesMaster" Target="/ppt/notesMasters/notesMaster1.xml" Id="R16d0438b3a4044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319a5b45646e7" /><Relationship Type="http://schemas.openxmlformats.org/officeDocument/2006/relationships/notesMaster" Target="/ppt/notesMasters/notesMaster1.xml" Id="Rfdaa451b4ab04c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9000e23d04e39" /><Relationship Type="http://schemas.openxmlformats.org/officeDocument/2006/relationships/notesMaster" Target="/ppt/notesMasters/notesMaster1.xml" Id="Rc14a30d99353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b7ddad08dc46f9" /><Relationship Type="http://schemas.openxmlformats.org/officeDocument/2006/relationships/notesMaster" Target="/ppt/notesMasters/notesMaster1.xml" Id="Re84a07d141e6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8d3b791a342ac" /><Relationship Type="http://schemas.openxmlformats.org/officeDocument/2006/relationships/notesMaster" Target="/ppt/notesMasters/notesMaster1.xml" Id="R9b00c7925c0f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da6bda921943e2" /><Relationship Type="http://schemas.openxmlformats.org/officeDocument/2006/relationships/notesMaster" Target="/ppt/notesMasters/notesMaster1.xml" Id="R99fa2f6a73034c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71edc1eb8b454a" /><Relationship Type="http://schemas.openxmlformats.org/officeDocument/2006/relationships/notesMaster" Target="/ppt/notesMasters/notesMaster1.xml" Id="Raf52189255a142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4595825aa44f1" /><Relationship Type="http://schemas.openxmlformats.org/officeDocument/2006/relationships/notesMaster" Target="/ppt/notesMasters/notesMaster1.xml" Id="R6deb694a39bc45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f7c50fe39042db" /><Relationship Type="http://schemas.openxmlformats.org/officeDocument/2006/relationships/notesMaster" Target="/ppt/notesMasters/notesMaster1.xml" Id="R4d39413ecb1f44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83fed93b4640b1" /><Relationship Type="http://schemas.openxmlformats.org/officeDocument/2006/relationships/notesMaster" Target="/ppt/notesMasters/notesMaster1.xml" Id="Re7b0de4d4fa648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30946351df4810" /><Relationship Type="http://schemas.openxmlformats.org/officeDocument/2006/relationships/notesMaster" Target="/ppt/notesMasters/notesMaster1.xml" Id="R7e068621f2774c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69a007c7294a67" /><Relationship Type="http://schemas.openxmlformats.org/officeDocument/2006/relationships/notesMaster" Target="/ppt/notesMasters/notesMaster1.xml" Id="Rb8af79536e9145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9260d7734d4299" /><Relationship Type="http://schemas.openxmlformats.org/officeDocument/2006/relationships/notesMaster" Target="/ppt/notesMasters/notesMaster1.xml" Id="Ra37fc132a8644e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7c5d5a3e1341b4" /><Relationship Type="http://schemas.openxmlformats.org/officeDocument/2006/relationships/notesMaster" Target="/ppt/notesMasters/notesMaster1.xml" Id="R90f91a0c09df41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32f8b1253b4776" /><Relationship Type="http://schemas.openxmlformats.org/officeDocument/2006/relationships/notesMaster" Target="/ppt/notesMasters/notesMaster1.xml" Id="Rfdee93f33f0944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6853810fd4430b" /><Relationship Type="http://schemas.openxmlformats.org/officeDocument/2006/relationships/notesMaster" Target="/ppt/notesMasters/notesMaster1.xml" Id="R8514b99181a64b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44fc08d5154589" /><Relationship Type="http://schemas.openxmlformats.org/officeDocument/2006/relationships/notesMaster" Target="/ppt/notesMasters/notesMaster1.xml" Id="R6e75429fde00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课程主张：以功能、材料、技术、制度和审美的关系分析造物。</a:t>
            </a:r>
          </a:p>
          <a:p xmlns:a="http://schemas.openxmlformats.org/drawingml/2006/main">
            <a:r>
              <a:t>参考：夏燕靖《中国艺术设计史》（第3版）；应宜文《“设计”考辨——对中国设计史的一种新认识》，《美术研究》2018年第1期。</a:t>
            </a:r>
          </a:p>
          <a:p xmlns:a="http://schemas.openxmlformats.org/drawingml/2006/main">
            <a:r>
              <a:t>提示：‘形式追随功能’是用于课堂比较的分析框架，不等同于中国古代造物的原生术语。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核对条目：维基百科《仰韶文化》 https://zh.wikipedia.org/wiki/仰韶文化 （访问：2026-09-07）。条目介绍其农业、石器、日用陶器和彩绘纹样。</a:t>
            </a:r>
          </a:p>
          <a:p xmlns:a="http://schemas.openxmlformats.org/drawingml/2006/main">
            <a:r>
              <a:t>提示：纹样的具体象征含义需结合发掘报告和专业研究，不宜作单一解释。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核对条目：维基百科《良渚文化》 https://zh.wikipedia.org/wiki/良渚文化 （访问：2026-09-07）。条目介绍良渚文化的年代、玉琮、玉璧、玉钺及礼仪与权力表达。</a:t>
            </a:r>
          </a:p>
          <a:p xmlns:a="http://schemas.openxmlformats.org/drawingml/2006/main">
            <a:r>
              <a:t>课堂追问：礼仪功能如何改变材料选择与加工成本？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核对条目：维基百科《后母戊鼎》 https://zh.wikipedia.org/wiki/后母戊鼎 （访问：2026-09-07）。条目列出其年代、尺寸、纹样与铸造信息，并提示‘后母戊/司母戊’释读存在讨论。</a:t>
            </a:r>
          </a:p>
          <a:p xmlns:a="http://schemas.openxmlformats.org/drawingml/2006/main">
            <a:r>
              <a:t>提示：名称与铭文问题应保留学术争议。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核对条目：维基百科《考工记》 https://zh.wikipedia.org/wiki/考工记 （访问：2026-09-07）。</a:t>
            </a:r>
          </a:p>
          <a:p xmlns:a="http://schemas.openxmlformats.org/drawingml/2006/main">
            <a:r>
              <a:t>参考：应宜文《“设计”考辨——对中国设计史的一种新认识》，《美术研究》2018年第1期。</a:t>
            </a:r>
          </a:p>
          <a:p xmlns:a="http://schemas.openxmlformats.org/drawingml/2006/main">
            <a:r>
              <a:t>课堂追问：文本中的‘材有美、工有巧’如何联系当代材料与工艺选择？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核对条目：维基百科《秦始皇兵马俑》 https://zh.wikipedia.org/wiki/秦始皇兵马俑 （访问：2026-09-07）。</a:t>
            </a:r>
          </a:p>
          <a:p xmlns:a="http://schemas.openxmlformats.org/drawingml/2006/main">
            <a:r>
              <a:t>课堂追问：丧葬制度如何影响规模、复制方式和视觉秩序？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核对条目：维基百科《云冈石窟》 https://zh.wikipedia.org/wiki/云冈石窟 （访问：2026-09-07）。</a:t>
            </a:r>
          </a:p>
          <a:p xmlns:a="http://schemas.openxmlformats.org/drawingml/2006/main">
            <a:r>
              <a:t>课堂追问：宗教传播、皇家支持和石材条件分别怎样影响石窟形态？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核对条目：维基百科《唐三彩》 https://zh.wikipedia.org/wiki/唐三彩 （访问：2026-09-07）。</a:t>
            </a:r>
          </a:p>
          <a:p xmlns:a="http://schemas.openxmlformats.org/drawingml/2006/main">
            <a:r>
              <a:t>课堂追问：随葬用途、釉彩工艺和跨地域交流如何共同影响器物风格？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核对条目：维基百科《哥窑》 https://zh.wikipedia.org/wiki/哥窑 、《汝窑》 https://zh.wikipedia.org/wiki/汝窑 （访问：2026-09-07）。</a:t>
            </a:r>
          </a:p>
          <a:p xmlns:a="http://schemas.openxmlformats.org/drawingml/2006/main">
            <a:r>
              <a:t>提示：窑口认定、传世品与考古材料的关系应查阅陶瓷史专著和博物馆资料。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核对条目：维基百科《明式家具》 https://zh.wikipedia.org/wiki/明式家具 （访问：2026-09-07）。</a:t>
            </a:r>
          </a:p>
          <a:p xmlns:a="http://schemas.openxmlformats.org/drawingml/2006/main">
            <a:r>
              <a:t>课堂追问：榫卯、硬木材料和人体尺度怎样共同形成‘结构美’？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核对条目：维基百科《路易斯·沙利文》 https://zh.wikipedia.org/wiki/路易斯·沙利文 （访问：2026-09-07）。</a:t>
            </a:r>
          </a:p>
          <a:p xmlns:a="http://schemas.openxmlformats.org/drawingml/2006/main">
            <a:r>
              <a:t>背景：1896年论文《The Tall Office Building Artistically Considered》常与‘form ever follows function’相关联。此口号用于比较中西设计思想时，应注意其历史语境。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：祝帅《全球设计史观与中国设计主体性的建构——兼谈“世界设计史”研究的学科意义及学术启示》，《艺术设计研究》2021年；杭间《中国的设计史问题——关于上海的中国设计史年会》，《美术观察》2007年第12期。</a:t>
            </a:r>
          </a:p>
          <a:p xmlns:a="http://schemas.openxmlformats.org/drawingml/2006/main">
            <a:r>
              <a:t>课堂提示：避免把中国设计史讲成孤立的器物史，也避免用单一西方功能主义概念覆盖全部中国经验。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学术期刊检索与条目核对日期：2026-09-07。</a:t>
            </a:r>
          </a:p>
          <a:p xmlns:a="http://schemas.openxmlformats.org/drawingml/2006/main">
            <a:r>
              <a:t>期刊：应宜文，《“设计”考辨——对中国设计史的一种新认识》，《美术研究》2018年第1期；祝帅，《全球设计史观与中国设计主体性的建构》，《艺术设计研究》2021年；杭间，《中国的设计史问题——关于上海的中国设计史年会》，《美术观察》2007年第12期，第25页。</a:t>
            </a:r>
          </a:p>
          <a:p xmlns:a="http://schemas.openxmlformats.org/drawingml/2006/main">
            <a:r>
              <a:t>维基百科条目用于课堂检索入口，不能替代学术来源。</a:t>
            </a:r>
          </a:p>
          <a:p xmlns:a="http://schemas.openxmlformats.org/drawingml/2006/main">
            <a:r>
              <a:t>链接： https://zh.wikipedia.org/wiki/仰韶文化 ; https://zh.wikipedia.org/wiki/良渚文化 ; https://zh.wikipedia.org/wiki/后母戊鼎 ; https://zh.wikipedia.org/wiki/路易斯·沙利文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1bda007b840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4fca292d74d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f2d1e82234c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168c6848f43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d4ae003974c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2a5bf905f43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64d6ea7864c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2f14dcf7243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6c2424b8545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c8d0268f64c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6c6266f8542f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BAEDE-66F7-4596-B811-2C568FF766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F6AD4E-BACA-4BD3-AA9D-9B09EFF1C1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319055-AAE7-44AA-AF14-C28157E139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B06B8-3C46-4D18-A171-09867B0728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01EEBA-B1E0-49DB-843D-C0BC8FA4B0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EA34DC-E3B2-4728-A1E7-16E6C1A20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C649F7-74B3-4E3E-A2D1-04FEBA5DF0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2CE3E1-6B47-407F-8DEB-38B7BC7788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A70F-045A-4A34-8D04-6409759AA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63BE95-1470-4D4E-B6B3-074AFCE98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65D6-82C1-4C4E-AAE0-C7BB03332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5CBA72-7DED-49F5-9FC2-DFF1A8CB4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D11806-F984-4E6D-805A-519DFC200B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236934-7A1F-40B7-8A37-E0E8FE3EA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CB965-68DA-4E6D-819F-E33163FAE4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1C5E0B-ED64-4EEA-9BAD-CF17FB3F0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1BFA51-2F0C-4F2D-A18E-D102042972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464CB2-4DE2-43A7-9E9B-2CCB2BB2E3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CECE1B4-29DC-4007-AB69-6848CBCBC5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BAF1DC-433B-47F1-B5E9-F0A02F758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6DC2F2-7BF8-45D4-B46F-1BBE2280C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7F943C-CA2D-4976-9D18-E5F9758D4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210AFD-2EC7-484F-9EFA-A44E8B394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7726E4-134F-4FD1-B437-7D7E4C5988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1BD947-FD39-4B01-B90A-674FA10A3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35C0C52-3F93-4162-BA82-A88D41A548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927D8B-AA50-4B8C-A89D-5F7C186088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3F1B52D-EE96-474E-97DA-CF7674082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4AB0012-D97F-4D96-9517-27CAAAEAD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22BB2-A3CB-4C95-8194-A04411871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8A861BF-2F00-4F7E-8D82-6FBBA73D6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780687D-C139-4DD2-BC5F-BB9C68BDC4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73606C-CA59-4A80-82BF-8C8FC12EC5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A297F7-1B3F-4D37-ABB9-BF773D90FB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459B995-FB9D-48B4-9DB2-358DEC9154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7F1EC8-F534-486A-9D0F-9026A40130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3C787E-DAE7-4F7A-B169-291F3C0C1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AC810F-E8BE-4809-83F7-84E73F3DA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762F9E-33D2-40C9-9B2B-D4483EA22A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1903352-6D88-444D-AC71-1062AC21B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7F861F-5C79-4E63-8213-468F599C1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2952BD-0C41-45B5-9D1C-BF0A74CE2D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FC39C4-406A-4A3C-8809-5BD00682F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D2EFBE-2AD1-420B-B89A-F342681A24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74C37B-9E25-48BB-8FAE-D8F17DBB2A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77890D-DF08-4909-B891-8127795129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7035EC-1122-433D-81C3-5BE77E018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8302AE-BDED-4896-B92D-D1F8E7A624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03FFAA-0DEE-4F29-9299-3CD7A7F13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5CFF9C-B089-4FEE-BC95-5CB2ED80E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85154C-1E3C-497D-B96C-EBBEE0D47B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EAB829-4082-4303-9A88-210351EDFD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5AE49-E63E-4B00-8A8A-B4AEAB86B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EB2735-CBD5-4C42-BEB4-CE6DB042C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AAE3A1-CFB2-4787-ABC2-23059D29C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60B031-5F1A-4FAA-B2C7-FF1777F824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FBCA7-0B47-4F09-ADC4-5EE675AB9E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71360D-4C4B-4A39-9749-A9D76A7E4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d1334e89546be" /><Relationship Type="http://schemas.openxmlformats.org/officeDocument/2006/relationships/slideLayout" Target="/ppt/slideLayouts/slideLayout1.xml" Id="R93cf5ae9e5714545" /><Relationship Type="http://schemas.openxmlformats.org/officeDocument/2006/relationships/slideLayout" Target="/ppt/slideLayouts/slideLayout2.xml" Id="Raed6703e58d34763" /><Relationship Type="http://schemas.openxmlformats.org/officeDocument/2006/relationships/slideLayout" Target="/ppt/slideLayouts/slideLayout3.xml" Id="R34ff0f6b712f44d8" /><Relationship Type="http://schemas.openxmlformats.org/officeDocument/2006/relationships/slideLayout" Target="/ppt/slideLayouts/slideLayout4.xml" Id="R19bd2a3e894f43e2" /><Relationship Type="http://schemas.openxmlformats.org/officeDocument/2006/relationships/slideLayout" Target="/ppt/slideLayouts/slideLayout5.xml" Id="Rb34210dec44544bd" /><Relationship Type="http://schemas.openxmlformats.org/officeDocument/2006/relationships/slideLayout" Target="/ppt/slideLayouts/slideLayout6.xml" Id="R30e91a7b24874439" /><Relationship Type="http://schemas.openxmlformats.org/officeDocument/2006/relationships/slideLayout" Target="/ppt/slideLayouts/slideLayout7.xml" Id="R39c4162f304e4bcb" /><Relationship Type="http://schemas.openxmlformats.org/officeDocument/2006/relationships/slideLayout" Target="/ppt/slideLayouts/slideLayout8.xml" Id="Rad6d921d69be4c38" /><Relationship Type="http://schemas.openxmlformats.org/officeDocument/2006/relationships/slideLayout" Target="/ppt/slideLayouts/slideLayout9.xml" Id="R972bfeac65c54d58" /><Relationship Type="http://schemas.openxmlformats.org/officeDocument/2006/relationships/slideLayout" Target="/ppt/slideLayouts/slideLayout10.xml" Id="R90218c71e9114549" /><Relationship Type="http://schemas.openxmlformats.org/officeDocument/2006/relationships/slideLayout" Target="/ppt/slideLayouts/slideLayout11.xml" Id="R6882a922d435447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422CBEE-3EFE-4662-8424-7BD81CA99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12FF79-7791-4BAF-A377-D99E821F1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B980DF-26E0-49BF-A0C0-8E1B118C99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54562D-4C91-4E14-9913-081C1D3F26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239EB-D5BE-4DA2-A426-1C0DB0C9FA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cf5ae9e5714545"/>
    <p:sldLayoutId xmlns:r="http://schemas.openxmlformats.org/officeDocument/2006/relationships" id="2147483650" r:id="Raed6703e58d34763"/>
    <p:sldLayoutId xmlns:r="http://schemas.openxmlformats.org/officeDocument/2006/relationships" id="2147483651" r:id="R34ff0f6b712f44d8"/>
    <p:sldLayoutId xmlns:r="http://schemas.openxmlformats.org/officeDocument/2006/relationships" id="2147483652" r:id="R19bd2a3e894f43e2"/>
    <p:sldLayoutId xmlns:r="http://schemas.openxmlformats.org/officeDocument/2006/relationships" id="2147483653" r:id="Rb34210dec44544bd"/>
    <p:sldLayoutId xmlns:r="http://schemas.openxmlformats.org/officeDocument/2006/relationships" id="2147483654" r:id="R30e91a7b24874439"/>
    <p:sldLayoutId xmlns:r="http://schemas.openxmlformats.org/officeDocument/2006/relationships" id="2147483655" r:id="R39c4162f304e4bcb"/>
    <p:sldLayoutId xmlns:r="http://schemas.openxmlformats.org/officeDocument/2006/relationships" id="2147483656" r:id="Rad6d921d69be4c38"/>
    <p:sldLayoutId xmlns:r="http://schemas.openxmlformats.org/officeDocument/2006/relationships" id="2147483657" r:id="R972bfeac65c54d58"/>
    <p:sldLayoutId xmlns:r="http://schemas.openxmlformats.org/officeDocument/2006/relationships" id="2147483658" r:id="R90218c71e9114549"/>
    <p:sldLayoutId xmlns:r="http://schemas.openxmlformats.org/officeDocument/2006/relationships" id="2147483659" r:id="R6882a922d435447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551f1979dd4b05" /><Relationship Type="http://schemas.openxmlformats.org/officeDocument/2006/relationships/image" Target="/ppt/media/image.png" Id="Rc2a61bdff2cc4bcb" /><Relationship Type="http://schemas.openxmlformats.org/officeDocument/2006/relationships/notesSlide" Target="/ppt/notesSlides/notesSlide1.xml" Id="Re6339e14819f42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4ebc09e8c040c7" /><Relationship Type="http://schemas.openxmlformats.org/officeDocument/2006/relationships/notesSlide" Target="/ppt/notesSlides/notesSlide2.xml" Id="R8a228a96db2041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c4710b13848a5" /><Relationship Type="http://schemas.openxmlformats.org/officeDocument/2006/relationships/notesSlide" Target="/ppt/notesSlides/notesSlide3.xml" Id="R54ac47ef32f1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686670b47b490d" /><Relationship Type="http://schemas.openxmlformats.org/officeDocument/2006/relationships/notesSlide" Target="/ppt/notesSlides/notesSlide4.xml" Id="R06831fcc439e47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d15cf632214ed5" /><Relationship Type="http://schemas.openxmlformats.org/officeDocument/2006/relationships/image" Target="/ppt/media/image2.png" Id="Re3d515b6b84d4cd7" /><Relationship Type="http://schemas.openxmlformats.org/officeDocument/2006/relationships/notesSlide" Target="/ppt/notesSlides/notesSlide5.xml" Id="R52f166cab5a341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75a6d4d45b4b66" /><Relationship Type="http://schemas.openxmlformats.org/officeDocument/2006/relationships/image" Target="/ppt/media/image3.png" Id="R63fe943256c04735" /><Relationship Type="http://schemas.openxmlformats.org/officeDocument/2006/relationships/notesSlide" Target="/ppt/notesSlides/notesSlide6.xml" Id="R756620d686d544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e4f9858a3445c7" /><Relationship Type="http://schemas.openxmlformats.org/officeDocument/2006/relationships/image" Target="/ppt/media/image4.png" Id="R66e1f524c02f4cf3" /><Relationship Type="http://schemas.openxmlformats.org/officeDocument/2006/relationships/notesSlide" Target="/ppt/notesSlides/notesSlide7.xml" Id="R630635caad1d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35001bf1a34fef" /><Relationship Type="http://schemas.openxmlformats.org/officeDocument/2006/relationships/image" Target="/ppt/media/image5.png" Id="R6288ac19c297495d" /><Relationship Type="http://schemas.openxmlformats.org/officeDocument/2006/relationships/notesSlide" Target="/ppt/notesSlides/notesSlide8.xml" Id="Re479ec1c61f646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a25f8fa27d4953" /><Relationship Type="http://schemas.openxmlformats.org/officeDocument/2006/relationships/image" Target="/ppt/media/image6.png" Id="R4ae0eb8da78b445a" /><Relationship Type="http://schemas.openxmlformats.org/officeDocument/2006/relationships/notesSlide" Target="/ppt/notesSlides/notesSlide9.xml" Id="Rf9af3eb61d27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43c0e8627e47ea" /><Relationship Type="http://schemas.openxmlformats.org/officeDocument/2006/relationships/image" Target="/ppt/media/image7.png" Id="R89d837290fd746ad" /><Relationship Type="http://schemas.openxmlformats.org/officeDocument/2006/relationships/notesSlide" Target="/ppt/notesSlides/notesSlide10.xml" Id="R3b786c24ba9242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3e1767a2bb4628" /><Relationship Type="http://schemas.openxmlformats.org/officeDocument/2006/relationships/image" Target="/ppt/media/image.png" Id="R92451b01f7e94c68" /><Relationship Type="http://schemas.openxmlformats.org/officeDocument/2006/relationships/notesSlide" Target="/ppt/notesSlides/notesSlide11.xml" Id="R0ba820978a064e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5b7babbd7e4bba" /><Relationship Type="http://schemas.openxmlformats.org/officeDocument/2006/relationships/image" Target="/ppt/media/image8.png" Id="R6b54c73675a44dc9" /><Relationship Type="http://schemas.openxmlformats.org/officeDocument/2006/relationships/notesSlide" Target="/ppt/notesSlides/notesSlide12.xml" Id="R32a64775427641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165598b4ee48c8" /><Relationship Type="http://schemas.openxmlformats.org/officeDocument/2006/relationships/image" Target="/ppt/media/image9.png" Id="R4bcb14beabae4ff0" /><Relationship Type="http://schemas.openxmlformats.org/officeDocument/2006/relationships/notesSlide" Target="/ppt/notesSlides/notesSlide13.xml" Id="Rf5ccd7b33a474e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79417cb54d45f6" /><Relationship Type="http://schemas.openxmlformats.org/officeDocument/2006/relationships/image" Target="/ppt/media/image10.png" Id="Rea267efe2bd249da" /><Relationship Type="http://schemas.openxmlformats.org/officeDocument/2006/relationships/notesSlide" Target="/ppt/notesSlides/notesSlide14.xml" Id="R424f6d822a484a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8ec9e9bf77435a" /><Relationship Type="http://schemas.openxmlformats.org/officeDocument/2006/relationships/notesSlide" Target="/ppt/notesSlides/notesSlide15.xml" Id="R31970e483de549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62ef684e3b421b" /><Relationship Type="http://schemas.openxmlformats.org/officeDocument/2006/relationships/notesSlide" Target="/ppt/notesSlides/notesSlide16.xml" Id="R8d116c330e3e4d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96aa2118c74a0f" /><Relationship Type="http://schemas.openxmlformats.org/officeDocument/2006/relationships/notesSlide" Target="/ppt/notesSlides/notesSlide17.xml" Id="R5a03f76e897541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8f111168754262" /><Relationship Type="http://schemas.openxmlformats.org/officeDocument/2006/relationships/hyperlink" Target="https://zh.wikipedia.org/wiki/&#20208;&#38902;&#25991;&#21270;" TargetMode="External" Id="R86312313da4b4309" /><Relationship Type="http://schemas.openxmlformats.org/officeDocument/2006/relationships/hyperlink" Target="https://zh.wikipedia.org/wiki/&#33391;&#28186;&#25991;&#21270;" TargetMode="External" Id="Rea30e77e4b6b40be" /><Relationship Type="http://schemas.openxmlformats.org/officeDocument/2006/relationships/hyperlink" Target="https://zh.wikipedia.org/wiki/&#21518;&#27597;&#25098;&#40718;" TargetMode="External" Id="R92429b5b94204abf" /><Relationship Type="http://schemas.openxmlformats.org/officeDocument/2006/relationships/hyperlink" Target="https://zh.wikipedia.org/wiki/&#32771;&#24037;&#35760;" TargetMode="External" Id="R26d257036dca44e5" /><Relationship Type="http://schemas.openxmlformats.org/officeDocument/2006/relationships/hyperlink" Target="https://zh.wikipedia.org/wiki/&#31206;&#22987;&#30343;&#20853;&#39532;&#20433;" TargetMode="External" Id="R14679d9894bf4b37" /><Relationship Type="http://schemas.openxmlformats.org/officeDocument/2006/relationships/hyperlink" Target="https://zh.wikipedia.org/wiki/&#20113;&#20872;&#30707;&#31391;" TargetMode="External" Id="Rf7d2dc958bd84c24" /><Relationship Type="http://schemas.openxmlformats.org/officeDocument/2006/relationships/hyperlink" Target="https://zh.wikipedia.org/wiki/&#20113;&#20872;&#30707;&#31391;" TargetMode="External" Id="R56001b097eab4ff8" /><Relationship Type="http://schemas.openxmlformats.org/officeDocument/2006/relationships/hyperlink" Target="https://zh.wikipedia.org/wiki/&#21776;&#19977;&#24425;" TargetMode="External" Id="R1f81d7cfb8e04970" /><Relationship Type="http://schemas.openxmlformats.org/officeDocument/2006/relationships/hyperlink" Target="https://zh.wikipedia.org/wiki/&#21733;&#31377;" TargetMode="External" Id="R9563bac34f4040ab" /><Relationship Type="http://schemas.openxmlformats.org/officeDocument/2006/relationships/hyperlink" Target="https://zh.wikipedia.org/wiki/&#27741;&#31377;" TargetMode="External" Id="R026137dc807c4567" /><Relationship Type="http://schemas.openxmlformats.org/officeDocument/2006/relationships/hyperlink" Target="https://zh.wikipedia.org/wiki/&#26126;&#24335;&#23478;&#20855;" TargetMode="External" Id="R014d3a2bfeb648c7" /><Relationship Type="http://schemas.openxmlformats.org/officeDocument/2006/relationships/hyperlink" Target="https://zh.wikipedia.org/wiki/&#36335;&#26131;&#26031;&#183;&#27801;&#21033;&#25991;" TargetMode="External" Id="Rc1c0b369cf864774" /><Relationship Type="http://schemas.openxmlformats.org/officeDocument/2006/relationships/notesSlide" Target="/ppt/notesSlides/notesSlide18.xml" Id="R59b2bf3a284444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0012dfcc9f4f2c" /><Relationship Type="http://schemas.openxmlformats.org/officeDocument/2006/relationships/image" Target="/ppt/media/image.png" Id="R39b191616286419d" /><Relationship Type="http://schemas.openxmlformats.org/officeDocument/2006/relationships/notesSlide" Target="/ppt/notesSlides/notesSlide19.xml" Id="Rc2f01b6fa5cd43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AF190E-3502-47BC-920B-92215C66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3D7C53-DF8B-4560-9FB7-4D20DEED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A4FFE1-23A2-4F0E-9B58-B64881B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747224-E869-463A-A010-BAEF852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8544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61bdff2cc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8160" y="1234440"/>
            <a:ext cx="4023360" cy="402336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22AD2B-187A-4FBB-A0B2-69E623B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65836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5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中国艺术设计史</a:t>
            </a: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6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依「形式追随功能」重读十章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夏燕靖　著 · 第 3 版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设计与技术 · 社会生活 · 审美观念 的关系主线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7CCAB5-3E99-494C-B7E2-8338C47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CB6F7D-64C4-42D4-B989-17FE9EB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E3229DE-C326-4CB6-AC7D-3C4005A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01 / 19</a:t>
            </a:r>
          </a:p>
        </p:txBody>
      </p:sp>
      <p:sp>
        <p:nvSpPr>
          <p:cNvPr id="11" name="AILabel">
            <a:extLst xmlns:a="http://schemas.openxmlformats.org/drawingml/2006/main">
              <a:ext uri="{FF2B5EF4-FFF2-40B4-BE49-F238E27FC236}">
                <a16:creationId xmlns:a16="http://schemas.microsoft.com/office/drawing/2014/main" id="{95846830-8D32-45C7-B43C-9AAA9E0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695" y="6278000"/>
            <a:ext cx="2400000" cy="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12700">
            <a:solidFill>
              <a:srgbClr val="FFFFFF"/>
            </a:solidFill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含 AI 生成</a:t>
            </a:r>
          </a:p>
        </p:txBody>
      </p:sp>
    </p:spTree>
    <p:extLst>
      <p:ext uri="{BB962C8B-B14F-4D97-AF65-F5344CB8AC3E}">
        <p14:creationId xmlns:p14="http://schemas.microsoft.com/office/powerpoint/2010/main" val="1975610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5F67656-136D-4A5C-9F8E-8679910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C9ECD3-0D28-4196-88F4-B1D775A0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目录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8378B65-D5BC-4475-A0DA-F25C95D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A6DD62-E8FF-4D0A-B7A5-E476175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45920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5971B2-5996-45BE-9CE9-D96DDDB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627632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核心框架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形式追随功能的三重内涵 —— 实用 · 礼制象征 · 审美生活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DA11D50-28A8-4589-AF06-88EB80B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3744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9D3CEF-415E-4CE6-B4CE-8F3E0B2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15184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631E51-834A-4601-8968-BC7712E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596896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演进主线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全书功能重心览 —— 生存巫术 → 工业现代（六阶段）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07F8F15-A469-41DE-BDFC-4DBB39B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93008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108027-7950-44B4-A3E1-EFBA35E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84448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82B87F-B809-494A-B235-E72E5B5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566160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十章精读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从萌芽到近现代，逐章看「功能如何决定形式」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7F77074-DE25-4631-BA4B-FEE826B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62272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BF72A1-41F8-43D2-A7B7-AE3811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53712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1761194-88F3-433D-8B80-74C5FBDB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535424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知识拓展·出处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每章一个知识点，附维基百科来源与参考文献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B901B4-FE64-41B3-B596-426C81B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31536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D1A52B-57EE-4E7B-B9D4-FDCC9506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522975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D659AF-5F38-493E-8EBC-0D0BFAC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504688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贯穿性结论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三条主线与对现代设计的启示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D485C1-70E6-407E-AA8A-B802EBF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A59352C-CDB4-47A7-AD2F-97ED1CE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B37E1C-63C9-4EEC-9757-506C15C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02 / 19</a:t>
            </a:r>
          </a:p>
        </p:txBody>
      </p:sp>
    </p:spTree>
    <p:extLst>
      <p:ext uri="{BB962C8B-B14F-4D97-AF65-F5344CB8AC3E}">
        <p14:creationId xmlns:p14="http://schemas.microsoft.com/office/powerpoint/2010/main" val="1708836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A361A8-635C-4AE6-8E05-AFED2D07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CE61F1-29AC-45C0-8345-8BD97BE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核心框架 · 形式追随功能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14098B7-DE6C-4C05-963C-E618CA8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F6284A-8CD1-4E9C-B50D-29E98D3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80ED41-5B78-4461-B47D-DFB7BC44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实用功能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汲水、炊煮、坐卧、农战、生产。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器形服务于具体用途，如尖底瓶与汲水、铁器与农战。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FCBE664-A27F-40C5-92ED-2010BAD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DBDD21-1C75-4E47-B3EC-59E4458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EB14F-7F8D-42B1-9F87-31EED28B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礼制与象征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等级、祭祀、礼制、天人关系。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鼎、尊、簋与纹样受到用器制度和仪式语境的规约。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9F7AD43-C03D-4F41-8A0C-BCAA7182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D67DE8-38B8-44BE-AB20-744BFEED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5EAFA5-A1F2-4938-8FCB-3546F22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7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审美与生活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文人趣味、市民生活、商品流通。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宋瓷、明式家具与版画呈现审美取向和使用方式对形态的影响。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7A6A73-43DA-4744-A1F3-FD24C32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10911535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53B941-1150-4C21-970B-67ECDF0B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20640"/>
            <a:ext cx="10271455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技术与材料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F7F2E9"/>
                </a:solidFill>
                <a:latin typeface="微软雅黑"/>
                <a:ea typeface="微软雅黑"/>
                <a:cs typeface="微软雅黑"/>
              </a:rPr>
              <a:t>《考工记》提出“天有时，地有气，材有美，工有巧”。功能提出使用要求，材料和工艺限定造物可以实现的形态。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071D28-41C8-4250-B31A-0E72CB9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BBB2D3-4443-47B4-8F5F-667A30AE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4FBC347-0DC9-4F5D-A64B-C8C7A812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03 / 19</a:t>
            </a:r>
          </a:p>
        </p:txBody>
      </p:sp>
    </p:spTree>
    <p:extLst>
      <p:ext uri="{BB962C8B-B14F-4D97-AF65-F5344CB8AC3E}">
        <p14:creationId xmlns:p14="http://schemas.microsoft.com/office/powerpoint/2010/main" val="1950549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807E40F-48DB-4582-AEC6-606549F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0F164D-6B1A-4266-A308-CD06714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演进主线 · 全书功能重心一览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94076F3-4226-429F-A1F1-38F81D6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74519"/>
            <a:ext cx="11018519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C8135BD-DFF7-4EE4-88A6-C3A251BC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1B32ED-A27B-4386-B8DA-8D557BA4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809D7E-68CB-4C59-8084-1307E42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萌芽期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生存·巫术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工具·纹饰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7C85E72-5EA2-42D0-ADA5-F9F52CA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F8D5B09-8C99-4B42-9FDA-5A3B71C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AE41F03-36D2-4E85-A876-87E9DA3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青铜期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礼制·象征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礼器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DB25097-6289-433B-AD0D-F7D8726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3B2453-B8C1-44BB-8D74-9DC61D5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2765FE-EF34-4EDA-9320-D67AAD1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铁器期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实用·技术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实用器·考工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08D7A8-D044-43D1-9601-8C696A6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47B3B1-D493-4353-8DA4-E29818A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1CB308-339F-44B6-AA8D-8ABDB816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7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大一统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大一统·宗教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陵墓·石窟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FAF67198-94F5-47EE-A199-A41759B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42907BF-0307-4C79-9763-D797354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7559D8-9827-40BC-BFBF-6802884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宋元明清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审美·商品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文人器物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C9268096-B395-4F66-98D9-37DB4F9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99ED91-09D9-474E-98BC-F90B224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DDC5577-3D51-43FD-8007-44F2753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近现代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工业·现代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现代设计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51F0A9-404F-4B70-970F-FA19829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主线：功能重心沿「生存巫术 → 礼制象征 → 实用理性 → 大一统宗教 → 审美商品 → 工业现代」迁移，形式随之流转。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F1C782-0F7E-4C21-BCE3-F820A4B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9FD4ADF-58DB-4F32-81E6-2A3B9046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59CF48A-1AB4-40D9-BA6E-2C8C3DD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04 / 19</a:t>
            </a:r>
          </a:p>
        </p:txBody>
      </p:sp>
    </p:spTree>
    <p:extLst>
      <p:ext uri="{BB962C8B-B14F-4D97-AF65-F5344CB8AC3E}">
        <p14:creationId xmlns:p14="http://schemas.microsoft.com/office/powerpoint/2010/main" val="1321314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D367A34-1B5E-4C96-BCAB-C952033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D8863D-6A19-4A90-B98B-A735F2A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第一章 · 艺术设计的萌芽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原始社会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8A5349-4CEA-4EDA-93DB-C1FE80B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生存与仪式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石器围绕砍砸、切割等劳动形成；彩陶纹样在日常器用之外，也进入仪式与观念表达。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实用与象征在早期造物中已相互交织。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4A0ACA8-9499-4755-80BA-0174D69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515b6b84d4c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ECC871-68B7-4F83-A841-52D9A32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66CDAC-E9C9-47BA-BB7A-5B08A9BD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3EB70E-0F0C-4F22-929E-30FB879A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05 / 19</a:t>
            </a:r>
          </a:p>
        </p:txBody>
      </p:sp>
    </p:spTree>
    <p:extLst>
      <p:ext uri="{BB962C8B-B14F-4D97-AF65-F5344CB8AC3E}">
        <p14:creationId xmlns:p14="http://schemas.microsoft.com/office/powerpoint/2010/main" val="91841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D539983-42AF-4204-9DA6-56DB8262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A3A68F-7895-44E8-8021-9ED2524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第二章 · 中华文明形成期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新石器时代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62E56F-D340-4A00-9537-5907CE5E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定居生活与礼仪表达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陶器围绕汲水、炊煮、储藏等需求形成器类；良渚玉器显示玉材在礼仪、身份与权力表达中的作用。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玉器逐渐成为礼仪和身份表达的媒介，不能简单等同于实用工具。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F69C84-14D8-4F91-A2D8-617E56C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e943256c0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CAFD6B-C1EB-46E7-91C7-A8CB612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FE73A7-9762-44B2-B80A-F4B52E1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E4361A9-18F2-4FC6-BA83-F4B5092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194928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D16521A-0F39-4573-B0D9-F9471A2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3EF93E-D8C4-4A14-B54B-3A6D32C8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第三章 · 青铜时代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夏·商·西周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9A0C84-FA99-4EAB-AA98-DC4741A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礼制象征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鼎、尊、簋的形制、纹样与用器等级相互关联，体现礼制对造物的规约。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礼制不仅影响器物形态，也影响材料、工艺与资源的配置。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22B71F8-F7E6-4CDA-BDB5-0A63594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1f524c02f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FA28BC-406B-4145-B224-EEF08B4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C3A2897-67B7-40B3-A4D2-959602A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8643BD-48C1-4ED8-9B45-90DF596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07 / 19</a:t>
            </a:r>
          </a:p>
        </p:txBody>
      </p:sp>
    </p:spTree>
    <p:extLst>
      <p:ext uri="{BB962C8B-B14F-4D97-AF65-F5344CB8AC3E}">
        <p14:creationId xmlns:p14="http://schemas.microsoft.com/office/powerpoint/2010/main" val="1663549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7BB8204-89B6-4417-A25A-D52F8D7F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7AE817-6D38-4ADF-BCE6-299FDD2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第四章 · 早期铁器时代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春秋·战国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A88047-858A-4555-A9C1-C5E58490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实用与技术理性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铁器适应农耕和战争的需求而扩展；《考工记》把时令、环境、材料、工艺并列为造物条件。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可借《考工记》理解功能、材料与工艺之间的关联。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18995D1-4A53-4774-A069-7DAFCEC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ac19c297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708AD8C-1526-4475-BCF0-6DA261F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4C94C0-17D3-4B23-8BB8-700ADB9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803EA0-0376-4DEF-BCB1-29B998B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08 / 19</a:t>
            </a:r>
          </a:p>
        </p:txBody>
      </p:sp>
    </p:spTree>
    <p:extLst>
      <p:ext uri="{BB962C8B-B14F-4D97-AF65-F5344CB8AC3E}">
        <p14:creationId xmlns:p14="http://schemas.microsoft.com/office/powerpoint/2010/main" val="1201741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005F0584-C8DF-4DC4-AA4C-633BB31A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CE4DA8-02EB-4E3F-8CB9-5502C2F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第五章 · 秦汉时期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秦·汉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691E59-7904-42C0-A05D-2AEB835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大一统与天人秩序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陵墓空间、兵马俑、服饰章纹与丧葬观念、等级秩序相互关联。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器物与空间在此承担制度表达和身份识别的作用。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81EB06-62D4-4F47-81BB-168B9205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0eb8da78b44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E29FB8-CD7E-406B-B812-520A59C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9D7808D-ACC3-4F13-8213-BFADFCFA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0043CD-559E-4B1C-B4F7-C2502BF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2001378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D2293BB6-7DE2-44D6-9DCB-AD35C053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0A86B7-D79E-426C-B530-1556C9B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第六章 · 魏晋南北朝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六朝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DD1F36-2053-4D87-A211-F538ABE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宗教、审美与生活方式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佛教推动石窟造像；高坐家具随垂足而坐等生活方式变化而发展。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宗教传播和起居方式的改变，会带来器物与空间形态的调整。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D635119-453B-4455-9569-2115A395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837290fd746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0D35B0-6209-4013-8F2B-DA292EC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F8075B-74AB-4D68-B889-761CC750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4D0CA96-8B3B-4FC8-BCFC-EB94A7A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0702625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6856543-58D7-4A11-A9CF-2B445C1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8D5E9CB-02FD-4113-A62D-B88EB4C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第七章 · 隋唐时期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隋·唐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B45C86-ED17-4EB0-8FEA-E53B5A2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开放交流与帝国秩序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金银器、都城与服饰呈现中外交流、制度秩序和生活风尚的共同影响。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隋唐造物可从交流网络与社会秩序两个层面理解。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9A3EE87-25DC-4A74-86AD-D0EBD366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51b01f7e94c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52848C-D2D4-459D-BD6E-D4473BA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DDCAF4-6A25-4719-8E76-4E087D2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4A3A11-1936-40CB-933D-48F9C5E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773411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942AAAB-357F-479E-B6A2-FA3DB0A6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370FD4-AFFA-49C2-AEB4-BA83621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第八章 · 五代两宋辽金西夏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五代·两宋·辽金西夏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202999-5CDF-4B3E-AC31-FF011BA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文人审美与市民生活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宋瓷呈现克制、纯净的审美倾向；雕版印刷服务于文本复制与文化传播。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审美取向与传播需求共同塑造宋代器物和视觉文化。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CE0EE2-59DC-468B-88BB-5495AC5B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c73675a44d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907462-9F70-44E5-9588-8FA2539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30381B-87D4-4499-9FB6-28D2F4CB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12D963-18DB-4913-84C1-7066E37E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24163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8F4BFDC-5FEF-483C-BF08-14A2A12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F7538D-908A-4DA6-9879-4117C9C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第九章 · 元明清时期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元·明·清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2B3319-537E-435F-9BDF-C9A7D7E8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商品流通与宫廷需求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明式家具重视结构、比例与使用感受；青花瓷和版画的生产与流通更为活跃。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明式家具可作为讨论结构、材料、人体尺度与审美关系的案例。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2786EEA-EDB7-4A95-8B45-63DBEF0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b14beabae4f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C9AD7F-F9FE-4234-A883-39074C40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E94114A-2D6C-4D46-8A74-357D8B6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9F08C08-EAD8-49AA-9B77-877E4C4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7989020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BC37975-1AB3-40D7-8E5B-5147F42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2BE5E4-95CA-47D9-AF47-9492C52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第十章 · 近现代设计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近现代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41BBDA-880A-47F5-9045-6CD8606A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功能重心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工业化与现代生活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形式如何追随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机器生产、大众消费和新媒介改变了设计的生产方式与使用场景。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关键判断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近现代设计把传统造物带入工业体系与现代设计教育的语境。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A2FA52B-BBA8-4D68-9A3D-8072BD1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67efe2bd2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512E3C-B399-4163-AA80-AB50668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EDDAC1-5976-4657-81D6-E2A08579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27270A-7A79-4317-A37B-A2342E9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813009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3540AA9-926D-4D27-8C1B-84C98D7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D0EEF-6D2B-4BA3-BD22-B65A314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知识拓展 · 第一～五章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每章一个关键知识点，附维基百科出处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57936BD-6EC1-4B1E-83C4-29A5595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33C80B-B611-40A5-A024-DED7BBE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D3A34D-16CD-4E5D-9C4B-6005DC32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7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20B85D-0A91-43DE-BA64-F5D2C9EA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18488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人面鱼纹彩陶盆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出处：维基百科「仰韶文化」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34E95C-0009-47C1-936B-2CC2F5D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45920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仰韶文化彩陶代表作（约6000年前），1955年陕西西安半坡遗址出土，高16.5厘米、口径39.8厘米，现藏中国国家博物馆。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4EBBAEC-971A-4707-B763-C624C61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E1F4C1A-139C-41B3-B2E2-F02C7067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F12330-34D7-490F-A2F1-45EE8B3C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96896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DFF891-1625-42AA-918A-AC0AB63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51175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良渚玉琮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出处：维基百科「良渚文化」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11D3E7-D7C6-405C-8A94-7E0892A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78608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良渚文化（约5300—4000年前，长江下游）玉琮“内圆外方”，体现“天圆地方”宇宙观，是通天地、祭神礼地的礼器。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B9271EF-8FAF-49CC-A05B-7122C48B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0FFEA0-E43D-4442-B515-9F690F7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00B20B-10CE-4A03-9CAA-F5E59B0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BE0BD4-2A0A-4FAA-97D6-092BC72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83863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后母戊鼎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出处：维基百科「后母戊鼎」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0FF423-0D7C-43F0-89A0-CF5AB86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11296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商代晚期青铜方鼎，1939年河南安阳出土，通高133厘米、重832.84千克，中国最重商代青铜礼器，饰兽面纹与夔龙纹。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06ADD5D-984F-4FD2-B4E8-DCD8E59C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B6F050-3390-473B-B044-DC6E757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08BB360-0FED-4345-BF6D-C25C78DE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62272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09E7E52-1D04-4D94-8FDE-7CB343F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4165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考工记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出处：维基百科「考工记」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B8B30B-734E-4BB5-9424-254A68F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43983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先秦工艺专著，提出“天有时、地有气、材有美、工有巧”，是“形式追随功能”的第一次系统理论化。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10E9D96-BC98-4861-8DC1-1883A85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CC0ACC9-D433-4F6F-B623-026745B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863C71-5874-417E-98B0-CCDF7BD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59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C279AA3-D332-4BBA-ABCE-74A273F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秦始皇兵马俑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出处：维基百科「秦始皇兵马俑」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1630EEC-47B1-4059-9980-697A8137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376671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1974年陕西临潼发现，属秦始皇陵陪葬坑，以千件等身陶俑再现统一帝国军阵与“事死如事生”观念。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7EDF97A-2E98-4DE9-98E8-9C2FE727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8B0745B-F11A-458D-BD75-87BCF02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AE67888-45B8-4E72-8790-A5A9A28A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979007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3C5394-95C7-4027-994E-7B4C781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02878A8-88A8-4738-8AD7-08E76CB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知识拓展 · 第六～十章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每章一个关键知识点，附维基百科出处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681EE63-534E-4D4A-BF77-653950D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7A93856-F2D2-4C12-94F0-E275A92E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1B9EA9-E02D-4504-BE71-7ABC1FD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7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3022B8-0F27-4564-AE23-425EC79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18488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云冈石窟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出处：维基百科「云冈石窟」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3F3EC9-166B-488F-83B7-935EF77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45920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位于今山西大同，始凿于北魏文成帝和平年间（460年起），历时60余年，现存主要洞窟45个，为北魏皇家石窟。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4A65004-9008-42A9-B5E4-2B4442A3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7F6ABE-9E32-48BF-BA56-882BE6B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DAE2B0-7936-4524-AA61-165D375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96896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A40248E-419F-4FD2-BA8D-A954A9F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51175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唐三彩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出处：维基百科「唐三彩」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03B3C3-D43C-4F1D-B70B-AF047E5F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78608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唐代低温铅釉陶器，釉彩以黄、绿、白（褐）为主，多用于随葬明器，是盛唐气象与中外交流的物化。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E57012A-349D-4906-AA3A-4F804C9F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31DF32-E95B-4583-B208-2DEFFE6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389139-418C-4715-A511-B6C3737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08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DB957C-946B-44F7-8C20-90F2030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83863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宋代开片瓷（哥窑·汝窑）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出处：维基百科「哥窑」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ED8BD0-D61F-45F9-AE9C-7FDA3E06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11296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宋代以自然“开片”为美：哥窑“金丝铁线、紫口铁足”，汝窑冰裂纹开片——尚意审美催生的釉色极简。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726383B-1D2F-4D39-B269-A418DAC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C3DC196-4BF4-4551-BFB7-377475B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4B17E2-1870-4005-B405-72DFFC4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62272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09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62A110E-C136-47E3-9F4E-4E1EF4D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4165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明式圈椅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出处：维基百科「明式家具」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235508-840C-4D9E-9AFB-658F63A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43983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圈椅为明式家具代表，造型简练、以线为主，腿足“外圆内方”，通体榫卯不施钉，尺度合人体曲线。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96AB17B-3E1F-4DFE-BED4-0C205F5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E6686BB-5A3C-4D19-B488-DA78930D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D920BF4-2CEE-4A33-ACBA-511073AF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59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10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9A439F8-694F-478B-879C-3E1F2EBE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形式追随功能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出处：维基百科「路易斯·沙利文」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E9E73C5-2E5B-4359-A93B-032C12B9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376671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美国建筑师路易斯·沙利文（1856—1924）1896年于《高层办公建筑的艺术考虑》提出，成现代功能主义口号。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48DAFD1-EEB1-4FFA-9EBF-CB1B76A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E43F068-EA70-4359-8B64-B25C1F47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191D319-3E8E-4721-B61E-F62797F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110599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9EA31BB-4643-4AB4-9113-A88C5A2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B07438-E549-43EB-A0C2-2562E11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贯穿性结论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80E5E9F-7DA8-4896-922B-B29A4E7E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A82AE6F-DA8D-4850-AEDD-FDCD8F8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470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1A39D2-827D-4D15-8A24-683D6720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1095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905E4D-4007-4651-9FFF-2345133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28216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三重视角  中国古代造物可从实用、礼仪象征与审美生活三个维度观察。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礼仪象征是理解不少器物形制、纹样和使用场景的重要线索，但不应取代对材料与使用方式的分析。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668FDE-0C9B-404E-AFDD-8AF7A1C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36391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CE86BF-A8E3-4A93-A66C-719E5DC9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79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C8624D-353B-490B-98A8-BD69A36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47287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E2DD88-D524-47D0-AFC3-00B05A24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64408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技术与材料  功能提出使用要求，材料性能与工艺能力共同限定形态的实现。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以《考工记》为例，可把时令、环境、材料和工艺放入同一造物条件中考察。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430B276-CC3E-4DB0-98EE-22B0D2B1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72583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680C2588-3CAC-463A-AE39-460D747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1947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B21F0D0-221B-444D-B706-E2E960BE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79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EDC8037-2B93-4C51-9D96-EF33BA2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599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历史变化  功能重心会随生产方式、礼仪制度、宗教传播和消费生活而改变。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从史前工具到近现代设计，器物形态始终与具体的社会需求和技术条件相互关联。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A8DADC-CB05-45D5-973B-4B3F64D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FFB0DD-3299-45E3-B8BB-DA6AD53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357980-FE1E-40BD-8FAB-43CFFCE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1349908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066704F-B504-4E52-B1E9-27982FF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CD9213-DDA1-49C2-9827-CC051275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研究与资料来源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教材提供章节脉络；期刊论文用于方法与史学问题；维基百科条目用于课堂核对与延伸检索。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6CE08F-7CE8-4CE8-9CB8-B5A4B4B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21208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教材与学术期刊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86312313da4b4309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夏燕靖：《中国艺术设计史》（第3版）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ea30e77e4b6b40be"/>
              </a:rPr>
              <a:t>课件章节与基本叙事依据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92429b5b94204abf"/>
              </a:rPr>
              <a:t>应宜文：《“设计”考辨——对中国设计史的一种新认识》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《美术研究》2018年第1期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26d257036dca44e5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祝帅：《全球设计史观与中国设计主体性的建构》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4679d9894bf4b37"/>
              </a:rPr>
              <a:t>《艺术设计研究》2021年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f7d2dc958bd84c24"/>
              </a:rPr>
              <a:t>杭间：《中国的设计史问题——关于上海的中国设计史年会》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56001b097eab4ff8"/>
              </a:rPr>
              <a:t>《美术观察》2007年第12期，第25页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7EE744-F3FD-4BB6-968F-A234DA2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534924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维基百科核对条目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f81d7cfb8e04970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仰韶文化、良渚文化、后母戊鼎、考工记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9563bac34f4040ab"/>
              </a:rPr>
              <a:t>秦始皇兵马俑、云冈石窟、唐三彩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哥窑、汝窑、明式家具、路易斯·沙利文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026137dc807c4567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使用提示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014d3a2bfeb648c7"/>
              </a:rPr>
              <a:t>维基条目适合核对年代、地点、术语和关联条目。课堂论证应回到教材、考古报告、博物馆资料或学术论文。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c1c0b369cf864774"/>
              </a:rPr>
              <a:t>链接入口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https://zh.wikipedia.org/wiki/仰韶文化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https://zh.wikipedia.org/wiki/良渚文化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https://zh.wikipedia.org/wiki/后母戊鼎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https://zh.wikipedia.org/wiki/路易斯·沙利文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C9048D-FE08-4008-BAED-9739DCE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57C569-3AF8-4A72-B70F-BD3BAA5B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8CDCF5-3C0C-4E51-B799-B3D8DE5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933246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747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DC108D-2637-451F-9D5F-9AB47BC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458128-65D1-4AEE-BFC4-C0355DC1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11696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91616286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60" y="3291840"/>
            <a:ext cx="2011680" cy="20116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C551457-83CC-4F69-AD38-E30CC84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73152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4600" b="1" i="0">
                <a:solidFill>
                  <a:srgbClr val="F7F2E9"/>
                </a:solidFill>
                <a:latin typeface="宋体"/>
                <a:ea typeface="宋体"/>
                <a:cs typeface="宋体"/>
              </a:rPr>
              <a:t>谢谢观看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80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形式追随功能，功能因时而变。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F7F2E9"/>
                </a:solidFill>
                <a:latin typeface="微软雅黑"/>
                <a:ea typeface="微软雅黑"/>
                <a:cs typeface="微软雅黑"/>
              </a:rPr>
              <a:t>读懂一部造物史，即读懂一部「需求」如何塑造「形态」的历史。</a:t>
            </a:r>
          </a:p>
        </p:txBody>
      </p:sp>
    </p:spTree>
    <p:extLst>
      <p:ext uri="{BB962C8B-B14F-4D97-AF65-F5344CB8AC3E}">
        <p14:creationId xmlns:p14="http://schemas.microsoft.com/office/powerpoint/2010/main" val="9278363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2026-09-07T03:23:10.5310000Z</dcterms:created>
  <dcterms:modified xsi:type="dcterms:W3CDTF">2026-09-07T03:23:10.5310000Z</dcterms:modified>
</coreProperties>
</file>