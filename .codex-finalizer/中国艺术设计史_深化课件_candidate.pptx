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ea98e6da64355" /><Relationship Type="http://schemas.openxmlformats.org/officeDocument/2006/relationships/extended-properties" Target="/docProps/app.xml" Id="R6f9bee50328e49af" /><Relationship Type="http://schemas.openxmlformats.org/officeDocument/2006/relationships/officeDocument" Target="/ppt/presentation.xml" Id="R8a65a07864c448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7c9dd5f32405c"/>
  </p:sldMasterIdLst>
  <p:notesMasterIdLst>
    <p:notesMasterId xmlns:r="http://schemas.openxmlformats.org/officeDocument/2006/relationships" r:id="Rbc13b1afeb614b22"/>
  </p:notesMasterIdLst>
  <p:sldIdLst>
    <p:sldId xmlns:r="http://schemas.openxmlformats.org/officeDocument/2006/relationships" id="256" r:id="Rd79db7d9911748b9"/>
    <p:sldId xmlns:r="http://schemas.openxmlformats.org/officeDocument/2006/relationships" id="257" r:id="Ree33beb56aff4aa8"/>
    <p:sldId xmlns:r="http://schemas.openxmlformats.org/officeDocument/2006/relationships" id="258" r:id="R3906beeeaef8445f"/>
    <p:sldId xmlns:r="http://schemas.openxmlformats.org/officeDocument/2006/relationships" id="259" r:id="Rdb00a8abf5464d54"/>
    <p:sldId xmlns:r="http://schemas.openxmlformats.org/officeDocument/2006/relationships" id="260" r:id="R11ad8170dc6b474f"/>
    <p:sldId xmlns:r="http://schemas.openxmlformats.org/officeDocument/2006/relationships" id="261" r:id="R751f58b52a514ae6"/>
    <p:sldId xmlns:r="http://schemas.openxmlformats.org/officeDocument/2006/relationships" id="262" r:id="R94da6e0c606d44b1"/>
    <p:sldId xmlns:r="http://schemas.openxmlformats.org/officeDocument/2006/relationships" id="263" r:id="R91e72d9a00524751"/>
    <p:sldId xmlns:r="http://schemas.openxmlformats.org/officeDocument/2006/relationships" id="264" r:id="Re9a0b6994a9d4adc"/>
    <p:sldId xmlns:r="http://schemas.openxmlformats.org/officeDocument/2006/relationships" id="265" r:id="Rc6bcab523b334dcd"/>
    <p:sldId xmlns:r="http://schemas.openxmlformats.org/officeDocument/2006/relationships" id="266" r:id="R1e9f496499594038"/>
    <p:sldId xmlns:r="http://schemas.openxmlformats.org/officeDocument/2006/relationships" id="267" r:id="R41c6bf10da8b4040"/>
    <p:sldId xmlns:r="http://schemas.openxmlformats.org/officeDocument/2006/relationships" id="268" r:id="Rd8280b13025b4f3c"/>
    <p:sldId xmlns:r="http://schemas.openxmlformats.org/officeDocument/2006/relationships" id="269" r:id="R19677dcda14b448f"/>
    <p:sldId xmlns:r="http://schemas.openxmlformats.org/officeDocument/2006/relationships" id="270" r:id="R3ec9400ceaaa4a2a"/>
    <p:sldId xmlns:r="http://schemas.openxmlformats.org/officeDocument/2006/relationships" id="271" r:id="R7a2122d1d1794b4c"/>
    <p:sldId xmlns:r="http://schemas.openxmlformats.org/officeDocument/2006/relationships" id="272" r:id="Rf9152a33022b4e77"/>
    <p:sldId xmlns:r="http://schemas.openxmlformats.org/officeDocument/2006/relationships" id="273" r:id="Rf8c98f14b6124dd0"/>
    <p:sldId xmlns:r="http://schemas.openxmlformats.org/officeDocument/2006/relationships" id="274" r:id="Reb7d2b2d0a3947c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18f320a4e4505" /><Relationship Type="http://schemas.openxmlformats.org/officeDocument/2006/relationships/slideMaster" Target="/ppt/slideMasters/slideMaster1.xml" Id="Rc817c9dd5f32405c" /><Relationship Type="http://schemas.openxmlformats.org/officeDocument/2006/relationships/notesMaster" Target="/ppt/notesMasters/notesMaster1.xml" Id="Rbc13b1afeb614b22" /><Relationship Type="http://schemas.openxmlformats.org/officeDocument/2006/relationships/presProps" Target="/ppt/presProps.xml" Id="Rfd4465d4ba07493d" /><Relationship Type="http://schemas.openxmlformats.org/officeDocument/2006/relationships/viewProps" Target="/ppt/viewProps.xml" Id="Ref35ad681acf4080" /><Relationship Type="http://schemas.openxmlformats.org/officeDocument/2006/relationships/tableStyles" Target="/ppt/tableStyles.xml" Id="Rea2cff3f2ec54ed6" /><Relationship Type="http://schemas.openxmlformats.org/officeDocument/2006/relationships/slide" Target="/ppt/slides/slide1.xml" Id="Rd79db7d9911748b9" /><Relationship Type="http://schemas.openxmlformats.org/officeDocument/2006/relationships/slide" Target="/ppt/slides/slide2.xml" Id="Ree33beb56aff4aa8" /><Relationship Type="http://schemas.openxmlformats.org/officeDocument/2006/relationships/slide" Target="/ppt/slides/slide3.xml" Id="R3906beeeaef8445f" /><Relationship Type="http://schemas.openxmlformats.org/officeDocument/2006/relationships/slide" Target="/ppt/slides/slide4.xml" Id="Rdb00a8abf5464d54" /><Relationship Type="http://schemas.openxmlformats.org/officeDocument/2006/relationships/slide" Target="/ppt/slides/slide5.xml" Id="R11ad8170dc6b474f" /><Relationship Type="http://schemas.openxmlformats.org/officeDocument/2006/relationships/slide" Target="/ppt/slides/slide6.xml" Id="R751f58b52a514ae6" /><Relationship Type="http://schemas.openxmlformats.org/officeDocument/2006/relationships/slide" Target="/ppt/slides/slide7.xml" Id="R94da6e0c606d44b1" /><Relationship Type="http://schemas.openxmlformats.org/officeDocument/2006/relationships/slide" Target="/ppt/slides/slide8.xml" Id="R91e72d9a00524751" /><Relationship Type="http://schemas.openxmlformats.org/officeDocument/2006/relationships/slide" Target="/ppt/slides/slide9.xml" Id="Re9a0b6994a9d4adc" /><Relationship Type="http://schemas.openxmlformats.org/officeDocument/2006/relationships/slide" Target="/ppt/slides/slide10.xml" Id="Rc6bcab523b334dcd" /><Relationship Type="http://schemas.openxmlformats.org/officeDocument/2006/relationships/slide" Target="/ppt/slides/slide11.xml" Id="R1e9f496499594038" /><Relationship Type="http://schemas.openxmlformats.org/officeDocument/2006/relationships/slide" Target="/ppt/slides/slide12.xml" Id="R41c6bf10da8b4040" /><Relationship Type="http://schemas.openxmlformats.org/officeDocument/2006/relationships/slide" Target="/ppt/slides/slide13.xml" Id="Rd8280b13025b4f3c" /><Relationship Type="http://schemas.openxmlformats.org/officeDocument/2006/relationships/slide" Target="/ppt/slides/slide14.xml" Id="R19677dcda14b448f" /><Relationship Type="http://schemas.openxmlformats.org/officeDocument/2006/relationships/slide" Target="/ppt/slides/slide15.xml" Id="R3ec9400ceaaa4a2a" /><Relationship Type="http://schemas.openxmlformats.org/officeDocument/2006/relationships/slide" Target="/ppt/slides/slide16.xml" Id="R7a2122d1d1794b4c" /><Relationship Type="http://schemas.openxmlformats.org/officeDocument/2006/relationships/slide" Target="/ppt/slides/slide17.xml" Id="Rf9152a33022b4e77" /><Relationship Type="http://schemas.openxmlformats.org/officeDocument/2006/relationships/slide" Target="/ppt/slides/slide18.xml" Id="Rf8c98f14b6124dd0" /><Relationship Type="http://schemas.openxmlformats.org/officeDocument/2006/relationships/slide" Target="/ppt/slides/slide19.xml" Id="Reb7d2b2d0a39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aeeb3cd668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cc10d1b7d4336" /><Relationship Type="http://schemas.openxmlformats.org/officeDocument/2006/relationships/notesMaster" Target="/ppt/notesMasters/notesMaster1.xml" Id="R701c19361a75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20911b1694028" /><Relationship Type="http://schemas.openxmlformats.org/officeDocument/2006/relationships/notesMaster" Target="/ppt/notesMasters/notesMaster1.xml" Id="R027a4564e08e4f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18a94a7884dad" /><Relationship Type="http://schemas.openxmlformats.org/officeDocument/2006/relationships/notesMaster" Target="/ppt/notesMasters/notesMaster1.xml" Id="Rf0e5a067a3c4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8ab43e22945de" /><Relationship Type="http://schemas.openxmlformats.org/officeDocument/2006/relationships/notesMaster" Target="/ppt/notesMasters/notesMaster1.xml" Id="Ra0e02c59bd2d4e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16fdc5e3e74cf8" /><Relationship Type="http://schemas.openxmlformats.org/officeDocument/2006/relationships/notesMaster" Target="/ppt/notesMasters/notesMaster1.xml" Id="Rba141d30e386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631cc849d847d5" /><Relationship Type="http://schemas.openxmlformats.org/officeDocument/2006/relationships/notesMaster" Target="/ppt/notesMasters/notesMaster1.xml" Id="R0eb86d2957da4a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1d1ef68424639" /><Relationship Type="http://schemas.openxmlformats.org/officeDocument/2006/relationships/notesMaster" Target="/ppt/notesMasters/notesMaster1.xml" Id="R015a738fa1dd42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a5814fe1164caf" /><Relationship Type="http://schemas.openxmlformats.org/officeDocument/2006/relationships/notesMaster" Target="/ppt/notesMasters/notesMaster1.xml" Id="R347329badfc543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ac4508f0c942e1" /><Relationship Type="http://schemas.openxmlformats.org/officeDocument/2006/relationships/notesMaster" Target="/ppt/notesMasters/notesMaster1.xml" Id="R82daeb860958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88cef645a74cde" /><Relationship Type="http://schemas.openxmlformats.org/officeDocument/2006/relationships/notesMaster" Target="/ppt/notesMasters/notesMaster1.xml" Id="Ra83873c7576e47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a3a32b0c34330" /><Relationship Type="http://schemas.openxmlformats.org/officeDocument/2006/relationships/notesMaster" Target="/ppt/notesMasters/notesMaster1.xml" Id="R940c1de1bc764f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bd0cd658e844c4" /><Relationship Type="http://schemas.openxmlformats.org/officeDocument/2006/relationships/notesMaster" Target="/ppt/notesMasters/notesMaster1.xml" Id="Rb5ea62651b4d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733a6e292f40fb" /><Relationship Type="http://schemas.openxmlformats.org/officeDocument/2006/relationships/notesMaster" Target="/ppt/notesMasters/notesMaster1.xml" Id="R211f608816e940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c7312bd0574f3d" /><Relationship Type="http://schemas.openxmlformats.org/officeDocument/2006/relationships/notesMaster" Target="/ppt/notesMasters/notesMaster1.xml" Id="R1660782f9ecd44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487f2c034946ec" /><Relationship Type="http://schemas.openxmlformats.org/officeDocument/2006/relationships/notesMaster" Target="/ppt/notesMasters/notesMaster1.xml" Id="Rd1bb09cd177f42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ada0c1973c4a70" /><Relationship Type="http://schemas.openxmlformats.org/officeDocument/2006/relationships/notesMaster" Target="/ppt/notesMasters/notesMaster1.xml" Id="R909d2d9fe50e4d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855ff678be4048" /><Relationship Type="http://schemas.openxmlformats.org/officeDocument/2006/relationships/notesMaster" Target="/ppt/notesMasters/notesMaster1.xml" Id="Rd3ef8e31009d4c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1d196fe8254e55" /><Relationship Type="http://schemas.openxmlformats.org/officeDocument/2006/relationships/notesMaster" Target="/ppt/notesMasters/notesMaster1.xml" Id="Rb0c4ed0261024a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fec368edfb4cc6" /><Relationship Type="http://schemas.openxmlformats.org/officeDocument/2006/relationships/notesMaster" Target="/ppt/notesMasters/notesMaster1.xml" Id="Rdbcf1a659996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课程主张：以功能、材料、技术、制度和审美的关系分析造物。</a:t>
            </a:r>
          </a:p>
          <a:p xmlns:a="http://schemas.openxmlformats.org/drawingml/2006/main">
            <a:r>
              <a:t>参考：夏燕靖《中国艺术设计史》（第3版）；应宜文《“设计”考辨——对中国设计史的一种新认识》，《美术研究》2018年第1期。</a:t>
            </a:r>
          </a:p>
          <a:p xmlns:a="http://schemas.openxmlformats.org/drawingml/2006/main">
            <a:r>
              <a:t>提示：‘形式追随功能’是用于课堂比较的分析框架，不等同于中国古代造物的原生术语。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本页专用提示：史前河岸聚落中的磨制石器、陶器制作和抽象彩陶纹样，展示劳动与仪式并存，不复制任何具体出土文物。</a:t>
            </a:r>
          </a:p>
          <a:p xmlns:a="http://schemas.openxmlformats.org/drawingml/2006/main">
            <a:r>
              <a:t>资料：维基百科《仰韶文化》 https://zh.wikipedia.org/wiki/仰韶文化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本页专用提示：新石器时代玉器作坊与方外圆内的抽象玉琮剪影，表现材料加工、礼仪和身份表达，不复原具体馆藏。</a:t>
            </a:r>
          </a:p>
          <a:p xmlns:a="http://schemas.openxmlformats.org/drawingml/2006/main">
            <a:r>
              <a:t>资料：维基百科《良渚文化》 https://zh.wikipedia.org/wiki/良渚文化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本页专用提示：商周青铜铸造工坊的陶范、熔炉和礼器轮廓，表现范铸工艺与礼制秩序，不复制后母戊鼎实物。</a:t>
            </a:r>
          </a:p>
          <a:p xmlns:a="http://schemas.openxmlformats.org/drawingml/2006/main">
            <a:r>
              <a:t>资料：维基百科《后母戊鼎》 https://zh.wikipedia.org/wiki/后母戊鼎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本页专用提示：战国工匠在材料架前选择木、金属和漆料，旁置抽象工尺与器物轮廓，表现“材有美，工有巧”的条件关系。</a:t>
            </a:r>
          </a:p>
          <a:p xmlns:a="http://schemas.openxmlformats.org/drawingml/2006/main">
            <a:r>
              <a:t>资料：维基百科《考工记》 https://zh.wikipedia.org/wiki/考工记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本页专用提示：秦汉陵墓空间的轴线、队列和纹样化器物剪影，以示意图方式呈现秩序和标准化，不生成兵马俑实物仿制。</a:t>
            </a:r>
          </a:p>
          <a:p xmlns:a="http://schemas.openxmlformats.org/drawingml/2006/main">
            <a:r>
              <a:t>资料：维基百科《秦始皇兵马俑》 https://zh.wikipedia.org/wiki/秦始皇兵马俑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本页专用提示：北魏石窟崖壁、脚手架和高坐家具轮廓组合，表现宗教传播、石材条件与起居方式的变化。</a:t>
            </a:r>
          </a:p>
          <a:p xmlns:a="http://schemas.openxmlformats.org/drawingml/2006/main">
            <a:r>
              <a:t>资料：维基百科《云冈石窟》 https://zh.wikipedia.org/wiki/云冈石窟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本页专用提示：丝路商旅、金银器、低温釉陶器和都市街市的象征性拼贴，表现开放交流与消费风尚，不复制唐三彩器物。</a:t>
            </a:r>
          </a:p>
          <a:p xmlns:a="http://schemas.openxmlformats.org/drawingml/2006/main">
            <a:r>
              <a:t>资料：维基百科《唐三彩》 https://zh.wikipedia.org/wiki/唐三彩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本页专用提示：宋代窑业、开片釉面纹理、雕版印刷木版和书卷的象征性组合，表现审美、生产和传播。</a:t>
            </a:r>
          </a:p>
          <a:p xmlns:a="http://schemas.openxmlformats.org/drawingml/2006/main">
            <a:r>
              <a:t>资料：维基百科《哥窑》 https://zh.wikipedia.org/wiki/哥窑 ，《汝窑》 https://zh.wikipedia.org/wiki/汝窑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本页专用提示：明式椅子的榫卯节点、木材纹理、工坊工具和市集货架，强调结构、材料和身体尺度，不仿制馆藏家具。</a:t>
            </a:r>
          </a:p>
          <a:p xmlns:a="http://schemas.openxmlformats.org/drawingml/2006/main">
            <a:r>
              <a:t>资料：维基百科《明式家具》 https://zh.wikipedia.org/wiki/明式家具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ComfyUI 配图提示词：16:9 横幅，中国艺术设计史教材插图，半写实数字绘画，暖米色纸张质感，主体置于画面右侧并留出左侧 45% 空白供文字排版，克制配色，博物馆教育图风格。负面提示词：文字、标志、水印、伪造馆藏编号、真实文物照片、夸张人物面部、畸形手部。使用边界：AI 图仅作历史情境示意，不替代文物照片、考古图版或原始史料。</a:t>
            </a:r>
          </a:p>
          <a:p xmlns:a="http://schemas.openxmlformats.org/drawingml/2006/main">
            <a:r>
              <a:t>本页专用提示：近现代设计教室、印刷机、海报网格和产品草图的拼贴，表现工业化、设计教育与大众媒介。</a:t>
            </a:r>
          </a:p>
          <a:p xmlns:a="http://schemas.openxmlformats.org/drawingml/2006/main">
            <a:r>
              <a:t>资料：何人可主编《中国工业设计史》；邱春林《20世纪中国工艺美术史》相关介绍。</a:t>
            </a:r>
          </a:p>
          <a:p xmlns:a="http://schemas.openxmlformats.org/drawingml/2006/main">
            <a:r>
              <a:t>中国社会科学网线索： https://www.cssn.cn/ztzl/ztzl_skwzg/ggfy/jyyj/ctsgy/202405/t20240509_5750086.shtml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研究深化提示：把‘形式追随功能’改写为可讨论的问题，而不是历史定律。每个案例同时观察生产者、材料技术、使用者、制度与市场。</a:t>
            </a:r>
          </a:p>
          <a:p xmlns:a="http://schemas.openxmlformats.org/drawingml/2006/main">
            <a:r>
              <a:t>中国社会科学网《新版学科目录“设计”类学科迎来重大结构性调整的几点解读》指出，中国古代设计史教学常停留在器物门类与时代背景罗列，可进一步讨论人与设计、市场与设计、技术与设计、设计思想演变。</a:t>
            </a:r>
          </a:p>
          <a:p xmlns:a="http://schemas.openxmlformats.org/drawingml/2006/main">
            <a:r>
              <a:t>链接：https://www.cssn.cn/ysx/ysx_xksy/202208/t20220802_5444283.shtml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资料筛选日期：2026-09-07。</a:t>
            </a:r>
          </a:p>
          <a:p xmlns:a="http://schemas.openxmlformats.org/drawingml/2006/main">
            <a:r>
              <a:t>同行评议论文：应宜文，《“设计”考辨——对中国设计史的一种新认识》，《美术研究》2018年第1期；祝帅，《全球设计史观与中国设计主体性的建构》，《艺术设计研究》2021年；杭间，《中国的设计史问题》，《美术观察》2007年第12期，第25页。</a:t>
            </a:r>
          </a:p>
          <a:p xmlns:a="http://schemas.openxmlformats.org/drawingml/2006/main">
            <a:r>
              <a:t>中国社会科学网研究线索：新版学科目录设计类学科解读（2022）；《20世纪中国工艺美术史》——百年工艺之旅（2024）；“无名的艺术史”物质文化与设计研究研讨会（2023）。这些材料为网刊报道或专题文章，需与同行评议论文区分使用。</a:t>
            </a:r>
          </a:p>
          <a:p xmlns:a="http://schemas.openxmlformats.org/drawingml/2006/main">
            <a:r>
              <a:t>维基百科条目作为核对入口：仰韶文化、良渚文化、后母戊鼎、考工记、云冈石窟、唐三彩、哥窑、汝窑、明式家具、路易斯·沙利文。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16ca5990742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f9f63fdde43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eee8c98f74e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03812d3ae48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b1cd9890b43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858bb214943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0c53c40b0450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5d1713c4245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37de8dad047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7087b04bd4f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57fd7519d443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BAEDE-66F7-4596-B811-2C568FF766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F6AD4E-BACA-4BD3-AA9D-9B09EFF1C1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319055-AAE7-44AA-AF14-C28157E139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B06B8-3C46-4D18-A171-09867B0728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01EEBA-B1E0-49DB-843D-C0BC8FA4B0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EA34DC-E3B2-4728-A1E7-16E6C1A20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C649F7-74B3-4E3E-A2D1-04FEBA5DF0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2CE3E1-6B47-407F-8DEB-38B7BC7788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A70F-045A-4A34-8D04-6409759AA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63BE95-1470-4D4E-B6B3-074AFCE98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65D6-82C1-4C4E-AAE0-C7BB03332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5CBA72-7DED-49F5-9FC2-DFF1A8CB4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D11806-F984-4E6D-805A-519DFC200B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236934-7A1F-40B7-8A37-E0E8FE3EA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CB965-68DA-4E6D-819F-E33163FAE4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1C5E0B-ED64-4EEA-9BAD-CF17FB3F0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1BFA51-2F0C-4F2D-A18E-D102042972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464CB2-4DE2-43A7-9E9B-2CCB2BB2E3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CECE1B4-29DC-4007-AB69-6848CBCBC5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BAF1DC-433B-47F1-B5E9-F0A02F758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6DC2F2-7BF8-45D4-B46F-1BBE2280C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7F943C-CA2D-4976-9D18-E5F9758D4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210AFD-2EC7-484F-9EFA-A44E8B394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7726E4-134F-4FD1-B437-7D7E4C5988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1BD947-FD39-4B01-B90A-674FA10A3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35C0C52-3F93-4162-BA82-A88D41A548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927D8B-AA50-4B8C-A89D-5F7C186088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3F1B52D-EE96-474E-97DA-CF7674082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4AB0012-D97F-4D96-9517-27CAAAEAD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22BB2-A3CB-4C95-8194-A04411871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8A861BF-2F00-4F7E-8D82-6FBBA73D6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780687D-C139-4DD2-BC5F-BB9C68BDC4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73606C-CA59-4A80-82BF-8C8FC12EC5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A297F7-1B3F-4D37-ABB9-BF773D90FB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459B995-FB9D-48B4-9DB2-358DEC9154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7F1EC8-F534-486A-9D0F-9026A40130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3C787E-DAE7-4F7A-B169-291F3C0C1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AC810F-E8BE-4809-83F7-84E73F3DA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762F9E-33D2-40C9-9B2B-D4483EA22A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1903352-6D88-444D-AC71-1062AC21B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7F861F-5C79-4E63-8213-468F599C1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2952BD-0C41-45B5-9D1C-BF0A74CE2D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FC39C4-406A-4A3C-8809-5BD00682F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D2EFBE-2AD1-420B-B89A-F342681A24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74C37B-9E25-48BB-8FAE-D8F17DBB2A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77890D-DF08-4909-B891-8127795129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7035EC-1122-433D-81C3-5BE77E018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8302AE-BDED-4896-B92D-D1F8E7A624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03FFAA-0DEE-4F29-9299-3CD7A7F13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5CFF9C-B089-4FEE-BC95-5CB2ED80E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85154C-1E3C-497D-B96C-EBBEE0D47B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EAB829-4082-4303-9A88-210351EDFD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5AE49-E63E-4B00-8A8A-B4AEAB86B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EB2735-CBD5-4C42-BEB4-CE6DB042C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AAE3A1-CFB2-4787-ABC2-23059D29C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60B031-5F1A-4FAA-B2C7-FF1777F824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FBCA7-0B47-4F09-ADC4-5EE675AB9E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71360D-4C4B-4A39-9749-A9D76A7E4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8de79c4034989" /><Relationship Type="http://schemas.openxmlformats.org/officeDocument/2006/relationships/slideLayout" Target="/ppt/slideLayouts/slideLayout1.xml" Id="R8f2bde8c49ae4f76" /><Relationship Type="http://schemas.openxmlformats.org/officeDocument/2006/relationships/slideLayout" Target="/ppt/slideLayouts/slideLayout2.xml" Id="Rabcd08f5b4904fbf" /><Relationship Type="http://schemas.openxmlformats.org/officeDocument/2006/relationships/slideLayout" Target="/ppt/slideLayouts/slideLayout3.xml" Id="Re397ee4c205544e4" /><Relationship Type="http://schemas.openxmlformats.org/officeDocument/2006/relationships/slideLayout" Target="/ppt/slideLayouts/slideLayout4.xml" Id="R89d8a5e7560040a2" /><Relationship Type="http://schemas.openxmlformats.org/officeDocument/2006/relationships/slideLayout" Target="/ppt/slideLayouts/slideLayout5.xml" Id="R5f81f7e617ec48e6" /><Relationship Type="http://schemas.openxmlformats.org/officeDocument/2006/relationships/slideLayout" Target="/ppt/slideLayouts/slideLayout6.xml" Id="Rb693cb2b3d9d408e" /><Relationship Type="http://schemas.openxmlformats.org/officeDocument/2006/relationships/slideLayout" Target="/ppt/slideLayouts/slideLayout7.xml" Id="R589b48cc66cc4e43" /><Relationship Type="http://schemas.openxmlformats.org/officeDocument/2006/relationships/slideLayout" Target="/ppt/slideLayouts/slideLayout8.xml" Id="Rffb81f5a0ecf4c2a" /><Relationship Type="http://schemas.openxmlformats.org/officeDocument/2006/relationships/slideLayout" Target="/ppt/slideLayouts/slideLayout9.xml" Id="Rf98f07d3136041f5" /><Relationship Type="http://schemas.openxmlformats.org/officeDocument/2006/relationships/slideLayout" Target="/ppt/slideLayouts/slideLayout10.xml" Id="R1fca02f10e354d7e" /><Relationship Type="http://schemas.openxmlformats.org/officeDocument/2006/relationships/slideLayout" Target="/ppt/slideLayouts/slideLayout11.xml" Id="R404ff02d115645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422CBEE-3EFE-4662-8424-7BD81CA99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12FF79-7791-4BAF-A377-D99E821F1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B980DF-26E0-49BF-A0C0-8E1B118C99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54562D-4C91-4E14-9913-081C1D3F26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239EB-D5BE-4DA2-A426-1C0DB0C9FA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2bde8c49ae4f76"/>
    <p:sldLayoutId xmlns:r="http://schemas.openxmlformats.org/officeDocument/2006/relationships" id="2147483650" r:id="Rabcd08f5b4904fbf"/>
    <p:sldLayoutId xmlns:r="http://schemas.openxmlformats.org/officeDocument/2006/relationships" id="2147483651" r:id="Re397ee4c205544e4"/>
    <p:sldLayoutId xmlns:r="http://schemas.openxmlformats.org/officeDocument/2006/relationships" id="2147483652" r:id="R89d8a5e7560040a2"/>
    <p:sldLayoutId xmlns:r="http://schemas.openxmlformats.org/officeDocument/2006/relationships" id="2147483653" r:id="R5f81f7e617ec48e6"/>
    <p:sldLayoutId xmlns:r="http://schemas.openxmlformats.org/officeDocument/2006/relationships" id="2147483654" r:id="Rb693cb2b3d9d408e"/>
    <p:sldLayoutId xmlns:r="http://schemas.openxmlformats.org/officeDocument/2006/relationships" id="2147483655" r:id="R589b48cc66cc4e43"/>
    <p:sldLayoutId xmlns:r="http://schemas.openxmlformats.org/officeDocument/2006/relationships" id="2147483656" r:id="Rffb81f5a0ecf4c2a"/>
    <p:sldLayoutId xmlns:r="http://schemas.openxmlformats.org/officeDocument/2006/relationships" id="2147483657" r:id="Rf98f07d3136041f5"/>
    <p:sldLayoutId xmlns:r="http://schemas.openxmlformats.org/officeDocument/2006/relationships" id="2147483658" r:id="R1fca02f10e354d7e"/>
    <p:sldLayoutId xmlns:r="http://schemas.openxmlformats.org/officeDocument/2006/relationships" id="2147483659" r:id="R404ff02d1156456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f448f9617243db" /><Relationship Type="http://schemas.openxmlformats.org/officeDocument/2006/relationships/image" Target="/ppt/media/image.png" Id="Rc2c0b44e4ea74f61" /><Relationship Type="http://schemas.openxmlformats.org/officeDocument/2006/relationships/notesSlide" Target="/ppt/notesSlides/notesSlide1.xml" Id="R969492d0401c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a1b469957c491d" /><Relationship Type="http://schemas.openxmlformats.org/officeDocument/2006/relationships/notesSlide" Target="/ppt/notesSlides/notesSlide2.xml" Id="R87f2fd292518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0f7478f90f4421" /><Relationship Type="http://schemas.openxmlformats.org/officeDocument/2006/relationships/notesSlide" Target="/ppt/notesSlides/notesSlide3.xml" Id="R170a51aac774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ecbd1d3d464adb" /><Relationship Type="http://schemas.openxmlformats.org/officeDocument/2006/relationships/notesSlide" Target="/ppt/notesSlides/notesSlide4.xml" Id="R03ecc5fd0d7f4c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3def8729e741c4" /><Relationship Type="http://schemas.openxmlformats.org/officeDocument/2006/relationships/image" Target="/ppt/media/image2.png" Id="R4d4306dfadff4125" /><Relationship Type="http://schemas.openxmlformats.org/officeDocument/2006/relationships/notesSlide" Target="/ppt/notesSlides/notesSlide5.xml" Id="Re138c8eee7ca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742dc2d9b94a0a" /><Relationship Type="http://schemas.openxmlformats.org/officeDocument/2006/relationships/image" Target="/ppt/media/image3.png" Id="R29bd39ba51bf4eca" /><Relationship Type="http://schemas.openxmlformats.org/officeDocument/2006/relationships/notesSlide" Target="/ppt/notesSlides/notesSlide6.xml" Id="R58c26fb9ba0947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378a5717014aed" /><Relationship Type="http://schemas.openxmlformats.org/officeDocument/2006/relationships/image" Target="/ppt/media/image4.png" Id="Re7f6d674bc5f4ab0" /><Relationship Type="http://schemas.openxmlformats.org/officeDocument/2006/relationships/notesSlide" Target="/ppt/notesSlides/notesSlide7.xml" Id="R7aeef127cbf145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4c5aaaafbb4279" /><Relationship Type="http://schemas.openxmlformats.org/officeDocument/2006/relationships/image" Target="/ppt/media/image5.png" Id="R71067e2df3a24c8b" /><Relationship Type="http://schemas.openxmlformats.org/officeDocument/2006/relationships/notesSlide" Target="/ppt/notesSlides/notesSlide8.xml" Id="R61ade513a52149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f64f269e264e27" /><Relationship Type="http://schemas.openxmlformats.org/officeDocument/2006/relationships/image" Target="/ppt/media/image6.png" Id="R625e1f83ae684150" /><Relationship Type="http://schemas.openxmlformats.org/officeDocument/2006/relationships/notesSlide" Target="/ppt/notesSlides/notesSlide9.xml" Id="Rece5f91c571f46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e64d79068f46b4" /><Relationship Type="http://schemas.openxmlformats.org/officeDocument/2006/relationships/image" Target="/ppt/media/image7.png" Id="Re0be71cc68744442" /><Relationship Type="http://schemas.openxmlformats.org/officeDocument/2006/relationships/notesSlide" Target="/ppt/notesSlides/notesSlide10.xml" Id="R5773a1284de54d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60ab05511849dd" /><Relationship Type="http://schemas.openxmlformats.org/officeDocument/2006/relationships/image" Target="/ppt/media/image.png" Id="Ra6afcd55d96c4abd" /><Relationship Type="http://schemas.openxmlformats.org/officeDocument/2006/relationships/notesSlide" Target="/ppt/notesSlides/notesSlide11.xml" Id="R4f73c3f1c9f341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71c32d444f42c2" /><Relationship Type="http://schemas.openxmlformats.org/officeDocument/2006/relationships/image" Target="/ppt/media/image8.png" Id="Raaa548a169334c12" /><Relationship Type="http://schemas.openxmlformats.org/officeDocument/2006/relationships/notesSlide" Target="/ppt/notesSlides/notesSlide12.xml" Id="R9c1151be24c44c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4b5254ffc2486d" /><Relationship Type="http://schemas.openxmlformats.org/officeDocument/2006/relationships/image" Target="/ppt/media/image9.png" Id="Ra3274af79bc94c74" /><Relationship Type="http://schemas.openxmlformats.org/officeDocument/2006/relationships/notesSlide" Target="/ppt/notesSlides/notesSlide13.xml" Id="R4709a9be517549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64d178e8504f58" /><Relationship Type="http://schemas.openxmlformats.org/officeDocument/2006/relationships/image" Target="/ppt/media/image10.png" Id="Raa57713eb8164fcd" /><Relationship Type="http://schemas.openxmlformats.org/officeDocument/2006/relationships/notesSlide" Target="/ppt/notesSlides/notesSlide14.xml" Id="Rbc028c62de7046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2d9ecd17ca4f54" /><Relationship Type="http://schemas.openxmlformats.org/officeDocument/2006/relationships/notesSlide" Target="/ppt/notesSlides/notesSlide15.xml" Id="R688a6290fd3344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fa09a906f54dac" /><Relationship Type="http://schemas.openxmlformats.org/officeDocument/2006/relationships/notesSlide" Target="/ppt/notesSlides/notesSlide16.xml" Id="Rabcdc6adee9641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0253a9a2254779" /><Relationship Type="http://schemas.openxmlformats.org/officeDocument/2006/relationships/notesSlide" Target="/ppt/notesSlides/notesSlide17.xml" Id="Rfd3558fedb424c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169c21b03b4651" /><Relationship Type="http://schemas.openxmlformats.org/officeDocument/2006/relationships/hyperlink" Target="https://zh.wikipedia.org/wiki/&#20208;&#38902;&#25991;&#21270;" TargetMode="External" Id="R4620a2c0e59a41f2" /><Relationship Type="http://schemas.openxmlformats.org/officeDocument/2006/relationships/hyperlink" Target="https://zh.wikipedia.org/wiki/&#33391;&#28186;&#25991;&#21270;" TargetMode="External" Id="R7598056de3e14296" /><Relationship Type="http://schemas.openxmlformats.org/officeDocument/2006/relationships/hyperlink" Target="https://zh.wikipedia.org/wiki/&#21518;&#27597;&#25098;&#40718;" TargetMode="External" Id="R673e4b6da06e4f3c" /><Relationship Type="http://schemas.openxmlformats.org/officeDocument/2006/relationships/hyperlink" Target="https://zh.wikipedia.org/wiki/&#32771;&#24037;&#35760;" TargetMode="External" Id="R67d8048e72f64ced" /><Relationship Type="http://schemas.openxmlformats.org/officeDocument/2006/relationships/hyperlink" Target="https://zh.wikipedia.org/wiki/&#31206;&#22987;&#30343;&#20853;&#39532;&#20433;" TargetMode="External" Id="R31659a5a82e64242" /><Relationship Type="http://schemas.openxmlformats.org/officeDocument/2006/relationships/hyperlink" Target="https://zh.wikipedia.org/wiki/&#20113;&#20872;&#30707;&#31391;" TargetMode="External" Id="Rf5726e9660ee4962" /><Relationship Type="http://schemas.openxmlformats.org/officeDocument/2006/relationships/hyperlink" Target="https://zh.wikipedia.org/wiki/&#20113;&#20872;&#30707;&#31391;" TargetMode="External" Id="R6e4661ae652e4939" /><Relationship Type="http://schemas.openxmlformats.org/officeDocument/2006/relationships/hyperlink" Target="https://zh.wikipedia.org/wiki/&#21776;&#19977;&#24425;" TargetMode="External" Id="Rf8fc03565efb4e66" /><Relationship Type="http://schemas.openxmlformats.org/officeDocument/2006/relationships/hyperlink" Target="https://zh.wikipedia.org/wiki/&#21733;&#31377;" TargetMode="External" Id="R8276a27bcee242ce" /><Relationship Type="http://schemas.openxmlformats.org/officeDocument/2006/relationships/hyperlink" Target="https://zh.wikipedia.org/wiki/&#27741;&#31377;" TargetMode="External" Id="R6a89182fa64845a6" /><Relationship Type="http://schemas.openxmlformats.org/officeDocument/2006/relationships/hyperlink" Target="https://zh.wikipedia.org/wiki/&#26126;&#24335;&#23478;&#20855;" TargetMode="External" Id="R4214d33f15694528" /><Relationship Type="http://schemas.openxmlformats.org/officeDocument/2006/relationships/hyperlink" Target="https://zh.wikipedia.org/wiki/&#36335;&#26131;&#26031;&#183;&#27801;&#21033;&#25991;" TargetMode="External" Id="Rf8f96084b2bd4e3b" /><Relationship Type="http://schemas.openxmlformats.org/officeDocument/2006/relationships/notesSlide" Target="/ppt/notesSlides/notesSlide18.xml" Id="Rd29066f5b26e4e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6cd62faec74ba7" /><Relationship Type="http://schemas.openxmlformats.org/officeDocument/2006/relationships/image" Target="/ppt/media/image.png" Id="R0c04b9273746426d" /><Relationship Type="http://schemas.openxmlformats.org/officeDocument/2006/relationships/notesSlide" Target="/ppt/notesSlides/notesSlide19.xml" Id="Rfb88815b0fa64c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AF190E-3502-47BC-920B-92215C66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3D7C53-DF8B-4560-9FB7-4D20DEED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A4FFE1-23A2-4F0E-9B58-B64881B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747224-E869-463A-A010-BAEF852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8544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0b44e4ea7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8160" y="1234440"/>
            <a:ext cx="4023360" cy="402336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22AD2B-187A-4FBB-A0B2-69E623B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65836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5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中国艺术设计史</a:t>
            </a: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6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依「形式追随功能」重读十章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夏燕靖　著 · 第 3 版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设计与技术 · 社会生活 · 审美观念 的关系主线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7CCAB5-3E99-494C-B7E2-8338C47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CB6F7D-64C4-42D4-B989-17FE9EB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E3229DE-C326-4CB6-AC7D-3C4005A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01 / 19</a:t>
            </a:r>
          </a:p>
        </p:txBody>
      </p:sp>
      <p:sp>
        <p:nvSpPr>
          <p:cNvPr id="11" name="AILabel">
            <a:extLst xmlns:a="http://schemas.openxmlformats.org/drawingml/2006/main">
              <a:ext uri="{FF2B5EF4-FFF2-40B4-BE49-F238E27FC236}">
                <a16:creationId xmlns:a16="http://schemas.microsoft.com/office/drawing/2014/main" id="{95846830-8D32-45C7-B43C-9AAA9E0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695" y="6278000"/>
            <a:ext cx="2400000" cy="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12700">
            <a:solidFill>
              <a:srgbClr val="FFFFFF"/>
            </a:solidFill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75610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5F67656-136D-4A5C-9F8E-8679910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C9ECD3-0D28-4196-88F4-B1D775A0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目录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8378B65-D5BC-4475-A0DA-F25C95D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A6DD62-E8FF-4D0A-B7A5-E476175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45920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5971B2-5996-45BE-9CE9-D96DDDB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627632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核心框架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形式追随功能的三重内涵 —— 实用 · 礼制象征 · 审美生活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DA11D50-28A8-4589-AF06-88EB80B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3744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9D3CEF-415E-4CE6-B4CE-8F3E0B2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15184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631E51-834A-4601-8968-BC7712E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596896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演进主线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全书功能重心览 —— 生存巫术 → 工业现代（六阶段）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07F8F15-A469-41DE-BDFC-4DBB39B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93008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108027-7950-44B4-A3E1-EFBA35E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84448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82B87F-B809-494A-B235-E72E5B5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566160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十章精读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从萌芽到近现代，逐章看「功能如何决定形式」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7F77074-DE25-4631-BA4B-FEE826B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62272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BF72A1-41F8-43D2-A7B7-AE3811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53712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1761194-88F3-433D-8B80-74C5FBDB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535424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知识拓展·出处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每章一个知识点，附维基百科来源与参考文献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B901B4-FE64-41B3-B596-426C81B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31536"/>
            <a:ext cx="10515600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D1A52B-57EE-4E7B-B9D4-FDCC9506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522975"/>
            <a:ext cx="822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D659AF-5F38-493E-8EBC-0D0BFAC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504688"/>
            <a:ext cx="8778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贯穿性结论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三条主线与对现代设计的启示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D485C1-70E6-407E-AA8A-B802EBF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A59352C-CDB4-47A7-AD2F-97ED1CE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B37E1C-63C9-4EEC-9757-506C15C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02 / 19</a:t>
            </a:r>
          </a:p>
        </p:txBody>
      </p:sp>
    </p:spTree>
    <p:extLst>
      <p:ext uri="{BB962C8B-B14F-4D97-AF65-F5344CB8AC3E}">
        <p14:creationId xmlns:p14="http://schemas.microsoft.com/office/powerpoint/2010/main" val="1708836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A361A8-635C-4AE6-8E05-AFED2D07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CE61F1-29AC-45C0-8345-8BD97BE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核心框架 · 形式追随功能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14098B7-DE6C-4C05-963C-E618CA8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F6284A-8CD1-4E9C-B50D-29E98D3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80ED41-5B78-4461-B47D-DFB7BC44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实用功能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汲水、炊煮、坐卧、农战、生产。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器形服务于具体用途，如尖底瓶与汲水、铁器与农战。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FCBE664-A27F-40C5-92ED-2010BAD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DBDD21-1C75-4E47-B3EC-59E4458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EB14F-7F8D-42B1-9F87-31EED28B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礼制与象征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等级、祭祀、礼制、天人关系。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鼎、尊、簋与纹样受到用器制度和仪式语境的规约。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9F7AD43-C03D-4F41-8A0C-BCAA7182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64592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D67DE8-38B8-44BE-AB20-744BFEED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1645920"/>
            <a:ext cx="4572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5EAFA5-A1F2-4938-8FCB-3546F22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7" y="1920240"/>
            <a:ext cx="305409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审美与生活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文人趣味、市民生活、商品流通。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宋瓷、明式家具与版画呈现审美取向和使用方式对形态的影响。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7A6A73-43DA-4744-A1F3-FD24C32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10911535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53B941-1150-4C21-970B-67ECDF0B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20640"/>
            <a:ext cx="10271455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技术与材料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F7F2E9"/>
                </a:solidFill>
                <a:latin typeface="微软雅黑"/>
                <a:ea typeface="微软雅黑"/>
                <a:cs typeface="微软雅黑"/>
              </a:rPr>
              <a:t>《考工记》提出“天有时，地有气，材有美，工有巧”。功能提出使用要求，材料和工艺限定造物可以实现的形态。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071D28-41C8-4250-B31A-0E72CB9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BBB2D3-4443-47B4-8F5F-667A30AE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4FBC347-0DC9-4F5D-A64B-C8C7A812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03 / 19</a:t>
            </a:r>
          </a:p>
        </p:txBody>
      </p:sp>
    </p:spTree>
    <p:extLst>
      <p:ext uri="{BB962C8B-B14F-4D97-AF65-F5344CB8AC3E}">
        <p14:creationId xmlns:p14="http://schemas.microsoft.com/office/powerpoint/2010/main" val="1950549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807E40F-48DB-4582-AEC6-606549F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0F164D-6B1A-4266-A308-CD06714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演进主线 · 全书功能重心一览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94076F3-4226-429F-A1F1-38F81D6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74519"/>
            <a:ext cx="11018519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C8135BD-DFF7-4EE4-88A6-C3A251BC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1B32ED-A27B-4386-B8DA-8D557BA4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809D7E-68CB-4C59-8084-1307E42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萌芽期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生存·巫术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工具·纹饰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7C85E72-5EA2-42D0-ADA5-F9F52CA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F8D5B09-8C99-4B42-9FDA-5A3B71C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AE41F03-36D2-4E85-A876-87E9DA3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青铜期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礼制·象征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礼器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DB25097-6289-433B-AD0D-F7D8726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3B2453-B8C1-44BB-8D74-9DC61D5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2765FE-EF34-4EDA-9320-D67AAD1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铁器期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实用·技术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实用器·考工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08D7A8-D044-43D1-9601-8C696A6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47B3B1-D493-4353-8DA4-E29818A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1CB308-339F-44B6-AA8D-8ABDB816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7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大一统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大一统·宗教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陵墓·石窟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FAF67198-94F5-47EE-A199-A41759B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42907BF-0307-4C79-9763-D797354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7559D8-9827-40BC-BFBF-6802884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宋元明清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审美·商品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文人器物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C9268096-B395-4F66-98D9-37DB4F9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17373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99ED91-09D9-474E-98BC-F90B224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177393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DDC5577-3D51-43FD-8007-44F2753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286000"/>
            <a:ext cx="173736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近现代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>
              <a:spcAft>
                <a:spcPts val="700"/>
              </a:spcAft>
              <a:buNone/>
            </a:pPr>
            <a:r>
              <a:rPr sz="12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工业·现代</a:t>
            </a:r>
          </a:p>
          <a:p xmlns:a="http://schemas.openxmlformats.org/drawingml/2006/main">
            <a:pPr algn="ctr">
              <a:spcAft>
                <a:spcPts val="10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现代设计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51F0A9-404F-4B70-970F-FA19829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主线：功能重心沿「生存巫术 → 礼制象征 → 实用理性 → 大一统宗教 → 审美商品 → 工业现代」迁移，形式随之流转。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F1C782-0F7E-4C21-BCE3-F820A4B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9FD4ADF-58DB-4F32-81E6-2A3B9046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59CF48A-1AB4-40D9-BA6E-2C8C3DD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04 / 19</a:t>
            </a:r>
          </a:p>
        </p:txBody>
      </p:sp>
    </p:spTree>
    <p:extLst>
      <p:ext uri="{BB962C8B-B14F-4D97-AF65-F5344CB8AC3E}">
        <p14:creationId xmlns:p14="http://schemas.microsoft.com/office/powerpoint/2010/main" val="1321314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D367A34-1B5E-4C96-BCAB-C952033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D8863D-6A19-4A90-B98B-A735F2A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第一章 · 艺术设计的萌芽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原始社会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8A5349-4CEA-4EDA-93DB-C1FE80B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生产工具与仪式表达如何共同塑造早期造物。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《中国工艺美术史》重视石器和彩陶的工艺与门类。中国美术史重视造型和纹样。这里进一步追问器物在何种生活与仪式情境中使用。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彩陶纹样能否直接解释为宗教符号？需要哪些考古证据支持？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4A0ACA8-9499-4755-80BA-0174D69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306dfadff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ECC871-68B7-4F83-A841-52D9A32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66CDAC-E9C9-47BA-BB7A-5B08A9BD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3EB70E-0F0C-4F22-929E-30FB879A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05 / 19</a:t>
            </a:r>
          </a:p>
        </p:txBody>
      </p:sp>
    </p:spTree>
    <p:extLst>
      <p:ext uri="{BB962C8B-B14F-4D97-AF65-F5344CB8AC3E}">
        <p14:creationId xmlns:p14="http://schemas.microsoft.com/office/powerpoint/2010/main" val="91841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D539983-42AF-4204-9DA6-56DB8262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A3A68F-7895-44E8-8021-9ED2524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第二章 · 中华文明形成期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新石器时代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62E56F-D340-4A00-9537-5907CE5E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定居生活如何推动陶器分工，玉器又如何进入礼仪与身份表达。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工艺美术史可从器形、玉材和加工观察技术。美术史关注玉器的造型与纹样。设计史还需讨论生产组织、随葬制度和使用者。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玉琮的方外圆内为何值得从材料、工艺和礼仪三方面解释？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F69C84-14D8-4F91-A2D8-617E56C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d39ba51bf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CAFD6B-C1EB-46E7-91C7-A8CB612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FE73A7-9762-44B2-B80A-F4B52E1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E4361A9-18F2-4FC6-BA83-F4B5092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194928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D16521A-0F39-4573-B0D9-F9471A2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3EF93E-D8C4-4A14-B54B-3A6D32C8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第三章 · 青铜时代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夏·商·西周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9A0C84-FA99-4EAB-AA98-DC4741A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青铜礼器的形制、纹样与用器制度如何形成整体。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工艺美术史强调范铸、合金和装饰。美术史讨论兽面纹的视觉秩序。设计史可进一步连接礼制、资源动员和器物使用场景。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技术能力提升为什么没有只导向实用器，而能服务于礼制表达？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22B71F8-F7E6-4CDA-BDB5-0A63594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6d674bc5f4a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FA28BC-406B-4145-B224-EEF08B4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C3A2897-67B7-40B3-A4D2-959602A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8643BD-48C1-4ED8-9B45-90DF596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07 / 19</a:t>
            </a:r>
          </a:p>
        </p:txBody>
      </p:sp>
    </p:spTree>
    <p:extLst>
      <p:ext uri="{BB962C8B-B14F-4D97-AF65-F5344CB8AC3E}">
        <p14:creationId xmlns:p14="http://schemas.microsoft.com/office/powerpoint/2010/main" val="1663549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7BB8204-89B6-4417-A25A-D52F8D7F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7AE817-6D38-4ADF-BCE6-299FDD2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第四章 · 早期铁器时代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春秋·战国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A88047-858A-4555-A9C1-C5E58490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铁器扩展与《考工记》如何显示造物中的技术理性。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工艺美术史呈现铁器、漆器和织物门类。设计史应把时令、环境、材料和工艺视为同一条件链，观察技术如何回应生产与战争。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“材有美，工有巧”在当代材料选择中还能提供哪些判断？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18995D1-4A53-4774-A069-7DAFCEC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67e2df3a24c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708AD8C-1526-4475-BCF0-6DA261F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4C94C0-17D3-4B23-8BB8-700ADB9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803EA0-0376-4DEF-BCB1-29B998B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08 / 19</a:t>
            </a:r>
          </a:p>
        </p:txBody>
      </p:sp>
    </p:spTree>
    <p:extLst>
      <p:ext uri="{BB962C8B-B14F-4D97-AF65-F5344CB8AC3E}">
        <p14:creationId xmlns:p14="http://schemas.microsoft.com/office/powerpoint/2010/main" val="1201741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005F0584-C8DF-4DC4-AA4C-633BB31A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CE4DA8-02EB-4E3F-8CB9-5502C2F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第五章 · 秦汉时期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秦·汉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691E59-7904-42C0-A05D-2AEB835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秦汉的制度秩序如何进入陵墓、服饰和器物的形态。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中国美术史常从雕塑、画像与建筑观看秦汉视觉文化。工艺美术史关注漆器、织绣和铜器。设计史还应讨论标准化、空间秩序与身份识别。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兵马俑的规模、排列与制造方式怎样共同表达帝国秩序？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81EB06-62D4-4F47-81BB-168B9205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e1f83ae684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E29FB8-CD7E-406B-B812-520A59C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9D7808D-ACC3-4F13-8213-BFADFCFA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0043CD-559E-4B1C-B4F7-C2502BF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2001378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D2293BB6-7DE2-44D6-9DCB-AD35C053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0A86B7-D79E-426C-B530-1556C9B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第六章 · 魏晋南北朝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六朝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DD1F36-2053-4D87-A211-F538ABE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宗教传播与起居方式怎样改写空间、家具和造像。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美术史关注石窟造像的样式演变。工艺美术史关注家具和器物。设计史将传播网络、石材条件和身体姿态纳入同一分析。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高坐家具的兴起，如何说明身体姿态也会影响设计形态？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D635119-453B-4455-9569-2115A395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e71cc6874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0D35B0-6209-4013-8F2B-DA292EC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F8075B-74AB-4D68-B889-761CC750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4D0CA96-8B3B-4FC8-BCFC-EB94A7A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0702625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6856543-58D7-4A11-A9CF-2B445C1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8D5E9CB-02FD-4113-A62D-B88EB4C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第七章 · 隋唐时期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隋·唐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B45C86-ED17-4EB0-8FEA-E53B5A2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隋唐的开放交流怎样影响器物、都市与服饰的视觉语言。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工艺美术史可比较金银器、三彩和丝织技术。美术史可讨论人物、壁画与装饰风格。设计史还要追踪贸易、制度和消费风尚。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跨地域交流在器物上留下的痕迹，怎样区分技术借用与审美选择？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9A3EE87-25DC-4A74-86AD-D0EBD366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fcd55d96c4a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52848C-D2D4-459D-BD6E-D4473BA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DDCAF4-6A25-4719-8E76-4E087D2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4A3A11-1936-40CB-933D-48F9C5E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773411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942AAAB-357F-479E-B6A2-FA3DB0A6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370FD4-AFFA-49C2-AEB4-BA83621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第八章 · 五代两宋辽金西夏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五代·两宋·辽金西夏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202999-5CDF-4B3E-AC31-FF011BA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宋代审美与文化传播如何共同塑造器物和视觉文化。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美术史通常讨论文人画和书法的审美取向。工艺美术史重视瓷器与印刷。设计史把窑业组织、城市消费和文本复制放入解释框架。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“简约”是单纯的形式风格，还是与生产和使用方式有关？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CE0EE2-59DC-468B-88BB-5495AC5B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548a16933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907462-9F70-44E5-9588-8FA2539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30381B-87D4-4499-9FB6-28D2F4CB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12D963-18DB-4913-84C1-7066E37E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24163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8F4BFDC-5FEF-483C-BF08-14A2A12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F7538D-908A-4DA6-9879-4117C9C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第九章 · 元明清时期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元·明·清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2B3319-537E-435F-9BDF-C9A7D7E8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元明清的商品流通、宫廷需求与家具结构如何相互影响。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工艺美术史以家具、陶瓷、染织和版画为主要对象。美术史强调绘画与装饰风格。设计史可考察工坊、市场、材料和人体尺度。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明式家具的结构美，怎样同时来自榫卯、硬木和使用者的身体经验？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2786EEA-EDB7-4A95-8B45-63DBEF0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74af79bc9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C9AD7F-F9FE-4234-A883-39074C40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E94114A-2D6C-4D46-8A74-357D8B6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9F08C08-EAD8-49AA-9B77-877E4C4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7989020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BC37975-1AB3-40D7-8E5B-5147F42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2BE5E4-95CA-47D9-AF47-9492C52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9509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第十章 · 近现代设计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近现代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41BBDA-880A-47F5-9045-6CD8606A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667512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学习主题</a:t>
            </a: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工业化、设计教育与大众媒介如何重构近现代设计。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跨教材比较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1000"/>
              </a:spcAft>
              <a:buNone/>
            </a:pPr>
            <a:r>
              <a:rPr sz="14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中国现代设计史重视设计教育、图像传播和工业生产。20世纪工艺美术史还提示产业政策、技术改造和社会转型的重要性。</a:t>
            </a:r>
          </a:p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研讨问题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00" b="0" i="1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“传统工艺现代化”应如何同时评价技术效率、审美价值与社会影响？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A2FA52B-BBA8-4D68-9A3D-8072BD1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91640"/>
            <a:ext cx="37947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7713eb8164f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68" y="1847088"/>
            <a:ext cx="3483864" cy="348386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512E3C-B399-4163-AA80-AB50668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EDDAC1-5976-4657-81D6-E2A08579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27270A-7A79-4317-A37B-A2342E9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813009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3540AA9-926D-4D27-8C1B-84C98D7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D0EEF-6D2B-4BA3-BD22-B65A314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知识拓展 · 第一～五章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每章一个关键知识点，附维基百科出处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57936BD-6EC1-4B1E-83C4-29A5595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33C80B-B611-40A5-A024-DED7BBE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D3A34D-16CD-4E5D-9C4B-6005DC32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7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20B85D-0A91-43DE-BA64-F5D2C9EA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18488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人面鱼纹彩陶盆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出处：维基百科「仰韶文化」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34E95C-0009-47C1-936B-2CC2F5D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45920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仰韶文化彩陶代表作（约6000年前），1955年陕西西安半坡遗址出土，高16.5厘米、口径39.8厘米，现藏中国国家博物馆。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4EBBAEC-971A-4707-B763-C624C61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E1F4C1A-139C-41B3-B2E2-F02C7067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F12330-34D7-490F-A2F1-45EE8B3C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96896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DFF891-1625-42AA-918A-AC0AB63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51175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良渚玉琮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出处：维基百科「良渚文化」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11D3E7-D7C6-405C-8A94-7E0892A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78608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良渚文化（约5300—4000年前，长江下游）玉琮“内圆外方”，体现“天圆地方”宇宙观，是通天地、祭神礼地的礼器。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B9271EF-8FAF-49CC-A05B-7122C48B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0FFEA0-E43D-4442-B515-9F690F7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00B20B-10CE-4A03-9CAA-F5E59B0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BE0BD4-2A0A-4FAA-97D6-092BC72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83863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后母戊鼎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出处：维基百科「后母戊鼎」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0FF423-0D7C-43F0-89A0-CF5AB86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11296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商代晚期青铜方鼎，1939年河南安阳出土，通高133厘米、重832.84千克，中国最重商代青铜礼器，饰兽面纹与夔龙纹。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06ADD5D-984F-4FD2-B4E8-DCD8E59C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B6F050-3390-473B-B044-DC6E757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08BB360-0FED-4345-BF6D-C25C78DE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62272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09E7E52-1D04-4D94-8FDE-7CB343F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4165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考工记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出处：维基百科「考工记」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B8B30B-734E-4BB5-9424-254A68F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43983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先秦工艺专著，提出“天有时、地有气、材有美、工有巧”，是“形式追随功能”的第一次系统理论化。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10E9D96-BC98-4861-8DC1-1883A85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CC0ACC9-D433-4F6F-B623-026745B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863C71-5874-417E-98B0-CCDF7BD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59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C279AA3-D332-4BBA-ABCE-74A273F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秦始皇兵马俑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出处：维基百科「秦始皇兵马俑」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1630EEC-47B1-4059-9980-697A8137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376671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1974年陕西临潼发现，属秦始皇陵陪葬坑，以千件等身陶俑再现统一帝国军阵与“事死如事生”观念。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7EDF97A-2E98-4DE9-98E8-9C2FE727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8B0745B-F11A-458D-BD75-87BCF02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AE67888-45B8-4E72-8790-A5A9A28A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979007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3C5394-95C7-4027-994E-7B4C781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02878A8-88A8-4738-8AD7-08E76CB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知识拓展 · 第六～十章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每章一个关键知识点，附维基百科出处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681EE63-534E-4D4A-BF77-653950D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7A93856-F2D2-4C12-94F0-E275A92E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1B9EA9-E02D-4504-BE71-7ABC1FD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64207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3022B8-0F27-4564-AE23-425EC79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18488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云冈石窟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出处：维基百科「云冈石窟」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3F3EC9-166B-488F-83B7-935EF77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45920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位于今山西大同，始凿于北魏文成帝和平年间（460年起），历时60余年，现存主要洞窟45个，为北魏皇家石窟。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4A65004-9008-42A9-B5E4-2B4442A3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7F6ABE-9E32-48BF-BA56-882BE6B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DAE2B0-7936-4524-AA61-165D375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96896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07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A40248E-419F-4FD2-BA8D-A954A9F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51175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唐三彩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出处：维基百科「唐三彩」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03B3C3-D43C-4F1D-B70B-AF047E5F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78608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唐代低温铅釉陶器，釉彩以黄、绿、白（褐）为主，多用于随葬明器，是盛唐气象与中外交流的物化。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E57012A-349D-4906-AA3A-4F804C9F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31DF32-E95B-4583-B208-2DEFFE6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9856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389139-418C-4715-A511-B6C3737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08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DB957C-946B-44F7-8C20-90F2030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83863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宋代开片瓷（哥窑·汝窑）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274753"/>
                </a:solidFill>
                <a:latin typeface="微软雅黑"/>
                <a:ea typeface="微软雅黑"/>
                <a:cs typeface="微软雅黑"/>
              </a:rPr>
              <a:t>出处：维基百科「哥窑」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ED8BD0-D61F-45F9-AE9C-7FDA3E06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11296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宋代以自然“开片”为美：哥窑“金丝铁线、紫口铁足”，汝窑冰裂纹开片——尚意审美催生的釉色极简。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726383B-1D2F-4D39-B269-A418DAC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C3DC196-4BF4-4551-BFB7-377475B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52544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4B17E2-1870-4005-B405-72DFFC4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62272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9A3B2E"/>
                </a:solidFill>
                <a:latin typeface="宋体"/>
                <a:ea typeface="宋体"/>
                <a:cs typeface="宋体"/>
              </a:rPr>
              <a:t>09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62A110E-C136-47E3-9F4E-4E1EF4D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4165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明式圈椅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出处：维基百科「明式家具」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235508-840C-4D9E-9AFB-658F63A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43983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圈椅为明式家具代表，造型简练、以线为主，腿足“外圆内方”，通体榫卯不施钉，尺度合人体曲线。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96AB17B-3E1F-4DFE-BED4-0C205F5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10908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E6686BB-5A3C-4D19-B488-DA78930D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1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D920BF4-2CEE-4A33-ACBA-511073AF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59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C2953F"/>
                </a:solidFill>
                <a:latin typeface="宋体"/>
                <a:ea typeface="宋体"/>
                <a:cs typeface="宋体"/>
              </a:rPr>
              <a:t>10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9A439F8-694F-478B-879C-3E1F2EBE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形式追随功能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出处：维基百科「路易斯·沙利文」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E9E73C5-2E5B-4359-A93B-032C12B9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376671"/>
            <a:ext cx="65379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美国建筑师路易斯·沙利文（1856—1924）1896年于《高层办公建筑的艺术考虑》提出，成现代功能主义口号。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48DAFD1-EEB1-4FFA-9EBF-CB1B76A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E43F068-EA70-4359-8B64-B25C1F47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191D319-3E8E-4721-B61E-F62797F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110599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9EA31BB-4643-4AB4-9113-A88C5A2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B07438-E549-43EB-A0C2-2562E11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贯穿性结论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80E5E9F-7DA8-4896-922B-B29A4E7E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A82AE6F-DA8D-4850-AEDD-FDCD8F8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470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1A39D2-827D-4D15-8A24-683D6720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1095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905E4D-4007-4651-9FFF-2345133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28216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三重视角  中国古代造物可从实用、礼仪象征与审美生活三个维度观察。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礼仪象征是理解不少器物形制、纹样和使用场景的重要线索，但不应取代对材料与使用方式的分析。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668FDE-0C9B-404E-AFDD-8AF7A1C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36391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CE86BF-A8E3-4A93-A66C-719E5DC9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79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C8624D-353B-490B-98A8-BD69A36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47287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E2DD88-D524-47D0-AFC3-00B05A24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64408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技术与材料  功能提出使用要求，材料性能与工艺能力共同限定形态的实现。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以《考工记》为例，可把时令、环境、材料和工艺放入同一造物条件中考察。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430B276-CC3E-4DB0-98EE-22B0D2B1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72583"/>
            <a:ext cx="10972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E1D8C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680C2588-3CAC-463A-AE39-460D747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1947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7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B21F0D0-221B-444D-B706-E2E960BE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79"/>
            <a:ext cx="502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EDC8037-2B93-4C51-9D96-EF33BA2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599"/>
            <a:ext cx="97840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55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历史变化  功能重心会随生产方式、礼仪制度、宗教传播和消费生活而改变。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A2620"/>
                </a:solidFill>
                <a:latin typeface="微软雅黑"/>
                <a:ea typeface="微软雅黑"/>
                <a:cs typeface="微软雅黑"/>
              </a:rPr>
              <a:t>从史前工具到近现代设计，器物形态始终与具体的社会需求和技术条件相互关联。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A8DADC-CB05-45D5-973B-4B3F64D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FFB0DD-3299-45E3-B8BB-DA6AD53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357980-FE1E-40BD-8FAB-43CFFCE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1349908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066704F-B504-4E52-B1E9-27982FF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CD9213-DDA1-49C2-9827-CC051275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A2620"/>
                </a:solidFill>
                <a:latin typeface="宋体"/>
                <a:ea typeface="宋体"/>
                <a:cs typeface="宋体"/>
              </a:rPr>
              <a:t>研究深化与资料来源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教材用于建立史实框架。期刊论文用于方法讨论。中国社会科学网材料提供课程议题与研究线索。维基百科用于术语核对与延伸检索。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6CE08F-7CE8-4CE8-9CB8-B5A4B4B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21208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教材与同行评议论文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4620a2c0e59a41f2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夏燕靖：《中国艺术设计史》（第3版）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7598056de3e14296"/>
              </a:rPr>
              <a:t>田自秉：《中国工艺美术史》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73e4b6da06e4f3c"/>
              </a:rPr>
              <a:t>应宜文：《“设计”考辨——对中国设计史的一种新认识》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《美术研究》2018年第1期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7d8048e72f64ced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祝帅：《全球设计史观与中国设计主体性的建构》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31659a5a82e64242"/>
              </a:rPr>
              <a:t>《艺术设计研究》2021年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f5726e9660ee4962"/>
              </a:rPr>
              <a:t>杭间：《中国的设计史问题》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e4661ae652e4939"/>
              </a:rPr>
              <a:t>《美术观察》2007年第12期，第25页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7EE744-F3FD-4BB6-968F-A234DA2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534924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中国社会科学网筛选线索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f8fc03565efb4e66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《新版学科目录“设计”类学科迎来重大结构性调整的几点解读》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8276a27bcee242ce"/>
              </a:rPr>
              <a:t>将教学从器物罗列推进到人、技术、市场和制度。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a89182fa64845a6"/>
              </a:rPr>
              <a:t>《20世纪中国工艺美术史》——百年工艺之旅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近现代章节可加入产业政策、技术改造与社会转型。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4214d33f15694528"/>
              </a:rPr>
              <a:t/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>“无名的艺术史”研讨会报道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 u="sng">
                <a:solidFill>
                  <a:srgbClr val="9A3B2E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f8f96084b2bd4e3b"/>
              </a:rPr>
              <a:t>可从物质文化与“无名性”深化设计史的材料观。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050" b="1" i="0">
                <a:solidFill>
                  <a:srgbClr val="274753"/>
                </a:solidFill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使用边界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800" b="0" i="0">
                <a:solidFill>
                  <a:srgbClr val="9A3B2E"/>
                </a:solidFill>
                <a:latin typeface="微软雅黑"/>
                <a:ea typeface="微软雅黑"/>
                <a:cs typeface="微软雅黑"/>
              </a:rPr>
              <a:t>以上为中国社会科学网的研究线索，不替代同行评议论文。维基条目仍仅用于课堂核对。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C9048D-FE08-4008-BAED-9739DCE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57C569-3AF8-4A72-B70F-BD3BAA5B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《中国艺术设计史》· 依「形式追随功能」重读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8CDCF5-3C0C-4E51-B799-B3D8DE5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335" y="641908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867E72"/>
                </a:solidFill>
                <a:latin typeface="微软雅黑"/>
                <a:ea typeface="微软雅黑"/>
                <a:cs typeface="微软雅黑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933246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747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DC108D-2637-451F-9D5F-9AB47BC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458128-65D1-4AEE-BFC4-C0355DC1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11696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4b927374642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60" y="3291840"/>
            <a:ext cx="2011680" cy="20116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C551457-83CC-4F69-AD38-E30CC84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73152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4600" b="1" i="0">
                <a:solidFill>
                  <a:srgbClr val="F7F2E9"/>
                </a:solidFill>
                <a:latin typeface="宋体"/>
                <a:ea typeface="宋体"/>
                <a:cs typeface="宋体"/>
              </a:rPr>
              <a:t>谢谢观看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800" b="0" i="0">
                <a:solidFill>
                  <a:srgbClr val="C2953F"/>
                </a:solidFill>
                <a:latin typeface="微软雅黑"/>
                <a:ea typeface="微软雅黑"/>
                <a:cs typeface="微软雅黑"/>
              </a:rPr>
              <a:t>形式追随功能，功能因时而变。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F7F2E9"/>
                </a:solidFill>
                <a:latin typeface="微软雅黑"/>
                <a:ea typeface="微软雅黑"/>
                <a:cs typeface="微软雅黑"/>
              </a:rPr>
              <a:t>读懂一部造物史，即读懂一部「需求」如何塑造「形态」的历史。</a:t>
            </a:r>
          </a:p>
        </p:txBody>
      </p:sp>
    </p:spTree>
    <p:extLst>
      <p:ext uri="{BB962C8B-B14F-4D97-AF65-F5344CB8AC3E}">
        <p14:creationId xmlns:p14="http://schemas.microsoft.com/office/powerpoint/2010/main" val="9278363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2026-09-07T03:37:33.2060000Z</dcterms:created>
  <dcterms:modified xsi:type="dcterms:W3CDTF">2026-09-07T03:37:33.2060000Z</dcterms:modified>
</coreProperties>
</file>